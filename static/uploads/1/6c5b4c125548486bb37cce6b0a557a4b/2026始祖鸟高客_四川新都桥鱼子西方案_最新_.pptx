
<file path=[Content_Types].xml><?xml version="1.0" encoding="utf-8"?>
<Types xmlns="http://schemas.openxmlformats.org/package/2006/content-types">
  <Default Extension="png" ContentType="image/png"/>
  <Default Extension="jpg" ContentType="image/jpeg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19" Type="http://schemas.openxmlformats.org/officeDocument/2006/relationships/tableStyles" Target="tableStyles.xml" /><Relationship Id="rId18" Type="http://schemas.openxmlformats.org/officeDocument/2006/relationships/presProps" Target="presProps.xml" /><Relationship Id="rId17" Type="http://schemas.openxmlformats.org/officeDocument/2006/relationships/notesMaster" Target="notesMasters/notesMaster1.xml" /><Relationship Id="rId20" Type="http://schemas.openxmlformats.org/officeDocument/2006/relationships/viewProps" Target="viewProps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jpg" /><Relationship Id="rId1" Type="http://schemas.openxmlformats.org/officeDocument/2006/relationships/image" Target="media/image1.png" /><Relationship Id="rId3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21.jp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22.jp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23.jp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25.png" /><Relationship Id="rId2" Type="http://schemas.openxmlformats.org/officeDocument/2006/relationships/image" Target="media/image24.png" /><Relationship Id="rId4" Type="http://schemas.openxmlformats.org/officeDocument/2006/relationships/image" Target="media/image26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28.jpg" /><Relationship Id="rId4" Type="http://schemas.openxmlformats.org/officeDocument/2006/relationships/image" Target="media/image29.jpg" /><Relationship Id="rId2" Type="http://schemas.openxmlformats.org/officeDocument/2006/relationships/image" Target="media/image27.jp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30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1" Type="http://schemas.openxmlformats.org/officeDocument/2006/relationships/image" Target="media/image3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4" Type="http://schemas.openxmlformats.org/officeDocument/2006/relationships/image" Target="media/image6.png" /><Relationship Id="rId3" Type="http://schemas.openxmlformats.org/officeDocument/2006/relationships/image" Target="media/image5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4" Type="http://schemas.openxmlformats.org/officeDocument/2006/relationships/image" Target="media/image9.png" /><Relationship Id="rId1" Type="http://schemas.openxmlformats.org/officeDocument/2006/relationships/image" Target="media/image1.png" /><Relationship Id="rId3" Type="http://schemas.openxmlformats.org/officeDocument/2006/relationships/image" Target="media/image8.png" /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4" Type="http://schemas.openxmlformats.org/officeDocument/2006/relationships/image" Target="media/image12.png" /><Relationship Id="rId3" Type="http://schemas.openxmlformats.org/officeDocument/2006/relationships/image" Target="media/image11.png" /><Relationship Id="rId2" Type="http://schemas.openxmlformats.org/officeDocument/2006/relationships/image" Target="media/image10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3" Type="http://schemas.openxmlformats.org/officeDocument/2006/relationships/image" Target="media/image14.png" /><Relationship Id="rId2" Type="http://schemas.openxmlformats.org/officeDocument/2006/relationships/image" Target="media/image13.png" /><Relationship Id="rId1" Type="http://schemas.openxmlformats.org/officeDocument/2006/relationships/image" Target="media/image1.png" /><Relationship Id="rId4" Type="http://schemas.openxmlformats.org/officeDocument/2006/relationships/image" Target="media/image15.pn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4" Type="http://schemas.openxmlformats.org/officeDocument/2006/relationships/image" Target="media/image18.jpg" /><Relationship Id="rId2" Type="http://schemas.openxmlformats.org/officeDocument/2006/relationships/image" Target="media/image16.png" /><Relationship Id="rId1" Type="http://schemas.openxmlformats.org/officeDocument/2006/relationships/image" Target="media/image1.png" /><Relationship Id="rId3" Type="http://schemas.openxmlformats.org/officeDocument/2006/relationships/image" Target="media/image17.pn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20.png" /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A0A0B', flexDirection: 'row', padding: 0 }}&gt;&#10;  &lt;Box style={{ width: 560, height: 720, background: '#0A0A0B', flexDirection: 'column', justifyContent: 'space-between', padding: '52px 44px 40px 56px' }}&gt;&#10;    &lt;Box style={{ flexDirection: 'column', gap: 18 }}&gt;&#10;      &lt;Image src=&quot;assets/logo_arcteryx_white.png&quot; style={{ width: 122, height: 83 }} /&gt;&#10;      &lt;Image src=&quot;assets/logo_amer_white.png&quot; style={{ width: 74, height: 42, opacity: 0.9 }} /&gt;&#10;    &lt;/Box&gt;&#10;    &lt;Box style={{ flexDirection: 'column', gap: 22 }}&gt;&#10;      &lt;Text style={{ fontSize: 12, letterSpacing: 4, color: '#9C9C9C', fontFamily: &quot;'Avenir Next','Helvetica Neue',sans-serif&quot; }}&gt;OUTDOOR EXPERIENCE · 高客户外专场&lt;/Text&gt;&#10;      &lt;Text style={{ fontSize: 46, fontWeight: 'bold', color: '#F5F5F4', lineHeight: 1.25, fontFamily: &quot;'PingFang SC','Microsoft YaHei',sans-serif&quot; }}&gt;2026 远拓户外&lt;br /&gt;川西两天一夜&lt;/Text&gt;&#10;      &lt;Box style={{ width: 56, height: 3, background: '#E9A23B' }} /&gt;&#10;      &lt;Text style={{ fontSize: 17, color: '#F5F5F4', letterSpacing: 2, fontFamily: &quot;'PingFang SC','Microsoft YaHei',sans-serif&quot; }}&gt;四川 · 康定 · 新都桥 · 鱼子西&lt;/Text&gt;&#10;      &lt;Text style={{ fontSize: 12, color: '#9C9C9C', letterSpacing: 3, fontFamily: &quot;'Avenir Next','Helvetica Neue',sans-serif&quot; }}&gt;SICHUAN · XINDUQIAO · YUZIXI&lt;/Text&gt;&#10;    &lt;/Box&gt;&#10;    &lt;Box style={{ flexDirection: 'column', gap: 6 }}&gt;&#10;      &lt;Text style={{ fontSize: 11, letterSpacing: 3, color: '#9C9C9C', fontFamily: &quot;'Avenir Next','Helvetica Neue',sans-serif&quot; }}&gt;DATE&lt;/Text&gt;&#10;      &lt;Text style={{ fontSize: 18, color: '#F5F5F4', fontFamily: &quot;'Avenir Next','Helvetica Neue',sans-serif&quot; }}&gt;2026 / 10.xx — 10.xx&lt;/Text&gt;&#10;    &lt;/Box&gt;&#10;  &lt;/Box&gt;&#10;  &lt;Image src=&quot;assets/gongga_ridge.jpg&quot; style={{ width: 720, height: 720, objectFit: 'cover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5334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1"/>
          <a:srcRect l="223" t="0" r="223" b="0"/>
          <a:stretch>
            <a:fillRect/>
          </a:stretch>
        </p:blipFill>
        <p:spPr>
          <a:xfrm rot="0" flipH="0" flipV="0">
            <a:off x="533400" y="495300"/>
            <a:ext cx="1162050" cy="790575"/>
          </a:xfrm>
          <a:prstGeom prst="rect">
            <a:avLst/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2638425"/>
            <a:ext cx="438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300">
                <a:solidFill>
                  <a:srgbClr val="9C9C9C"/>
                </a:solidFill>
                <a:latin typeface="Avenir Next"/>
                <a:ea typeface="Avenir Next"/>
              </a:rPr>
              <a:t>OUTDOOR EXPERIENCE · </a:t>
            </a:r>
            <a:r>
              <a:rPr lang="zh-CN" sz="900" spc="300">
                <a:solidFill>
                  <a:srgbClr val="9C9C9C"/>
                </a:solidFill>
                <a:latin typeface="Avenir Next"/>
                <a:ea typeface="Avenir Next"/>
              </a:rPr>
              <a:t>高客户外专场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33400" y="2990850"/>
            <a:ext cx="4381500" cy="1314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450" b="1">
                <a:solidFill>
                  <a:srgbClr val="F5F5F4"/>
                </a:solidFill>
                <a:latin typeface="PingFang SC"/>
                <a:ea typeface="PingFang SC"/>
              </a:rPr>
              <a:t>2026 </a:t>
            </a:r>
            <a:r>
              <a:rPr lang="zh-CN" sz="3450" b="1">
                <a:solidFill>
                  <a:srgbClr val="F5F5F4"/>
                </a:solidFill>
                <a:latin typeface="PingFang SC"/>
                <a:ea typeface="PingFang SC"/>
              </a:rPr>
              <a:t>远拓户外</a:t>
            </a:r>
            <a:endParaRPr/>
          </a:p>
          <a:p>
            <a:pPr>
              <a:lnSpc>
                <a:spcPct val="125000"/>
              </a:lnSpc>
            </a:pPr>
            <a:r>
              <a:rPr lang="zh-CN" sz="3450" b="1">
                <a:solidFill>
                  <a:srgbClr val="F5F5F4"/>
                </a:solidFill>
                <a:latin typeface="PingFang SC"/>
                <a:ea typeface="PingFang SC"/>
              </a:rPr>
              <a:t>川西两天一夜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33400" y="4514850"/>
            <a:ext cx="5334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533400" y="47529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150">
                <a:solidFill>
                  <a:srgbClr val="F5F5F4"/>
                </a:solidFill>
                <a:latin typeface="PingFang SC"/>
                <a:ea typeface="PingFang SC"/>
              </a:rPr>
              <a:t>四川</a:t>
            </a:r>
            <a:r>
              <a:rPr lang="en-US" sz="1275" spc="150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275" spc="150">
                <a:solidFill>
                  <a:srgbClr val="F5F5F4"/>
                </a:solidFill>
                <a:latin typeface="PingFang SC"/>
                <a:ea typeface="PingFang SC"/>
              </a:rPr>
              <a:t>康定</a:t>
            </a:r>
            <a:r>
              <a:rPr lang="en-US" sz="1275" spc="150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275" spc="150">
                <a:solidFill>
                  <a:srgbClr val="F5F5F4"/>
                </a:solidFill>
                <a:latin typeface="PingFang SC"/>
                <a:ea typeface="PingFang SC"/>
              </a:rPr>
              <a:t>新都桥</a:t>
            </a:r>
            <a:r>
              <a:rPr lang="en-US" sz="1275" spc="150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275" spc="150">
                <a:solidFill>
                  <a:srgbClr val="F5F5F4"/>
                </a:solidFill>
                <a:latin typeface="PingFang SC"/>
                <a:ea typeface="PingFang SC"/>
              </a:rPr>
              <a:t>鱼子西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33400" y="5162550"/>
            <a:ext cx="438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9C9C9C"/>
                </a:solidFill>
                <a:latin typeface="Avenir Next"/>
                <a:ea typeface="Avenir Next"/>
              </a:rPr>
              <a:t>SICHUAN · XINDUQIAO · YUZIXI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33400" y="6076950"/>
            <a:ext cx="4381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9C9C9C"/>
                </a:solidFill>
                <a:latin typeface="Avenir Next"/>
                <a:ea typeface="Avenir Next"/>
              </a:rPr>
              <a:t>DATE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33400" y="62674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5F5F4"/>
                </a:solidFill>
                <a:latin typeface="Avenir Next"/>
                <a:ea typeface="Avenir Next"/>
              </a:rPr>
              <a:t>2026 / 10.xx — 10.xx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2"/>
          <a:srcRect l="16180" t="0" r="16180" b="0"/>
          <a:stretch>
            <a:fillRect/>
          </a:stretch>
        </p:blipFill>
        <p:spPr>
          <a:xfrm rot="0" flipH="0" flipV="0">
            <a:off x="5334000" y="0"/>
            <a:ext cx="6858000" cy="6858000"/>
          </a:xfrm>
          <a:prstGeom prst="rect">
            <a:avLst/>
          </a:prstGeom>
          <a:ln/>
        </p:spPr>
      </p:pic>
      <p:pic>
        <p:nvPicPr>
          <p:cNvPr id="13" name=""/>
          <p:cNvPicPr>
            <a:picLocks noChangeAspect="1"/>
          </p:cNvPicPr>
          <p:nvPr/>
        </p:nvPicPr>
        <p:blipFill>
          <a:blip r:embed="rId3">
            <a:alphaModFix amt="90000"/>
          </a:blip>
          <a:srcRect l="0" t="540" r="0" b="540"/>
          <a:stretch>
            <a:fillRect/>
          </a:stretch>
        </p:blipFill>
        <p:spPr>
          <a:xfrm rot="0" flipH="0" flipV="0">
            <a:off x="533400" y="1457325"/>
            <a:ext cx="704850" cy="40005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5" name="" descr="&lt;Slide style={{ width: 1280, height: 720, background: '#0A0A0B', flexDirection: 'row', padding: 0 }}&gt;&#10;  &lt;Box style={{ width: 790, height: 720, flexDirection: 'column', justifyContent: 'space-between', padding: '64px 56px 72px 64px' }}&gt;&#10;    &lt;Box style={{ flexDirection: 'row', alignItems: 'center', gap: 12 }}&gt;&#10;      &lt;Image src=&quot;assets/logo_arcteryx_white.png&quot; style={{ width: 30, height: 20 }} /&gt;&#10;      &lt;Text style={{ fontSize: 11, letterSpacing: 4, color: '#9C9C9C', fontFamily: &quot;'Avenir Next','Helvetica Neue',sans-serif&quot; }}&gt;01 — DESTINATION&lt;/Text&gt;&#10;    &lt;/Box&gt;&#10;    &lt;Box style={{ flexDirection: 'column', gap: 24 }}&gt;&#10;      &lt;Text style={{ fontSize: 42, fontWeight: 'bold', color: '#F5F5F4', lineHeight: 1.3, fontFamily: &quot;'PingFang SC','Microsoft YaHei',sans-serif&quot; }}&gt;登上平台&lt;br /&gt;远眺蜀地神山&lt;/Text&gt;&#10;      &lt;Box style={{ flexDirection: 'row', alignItems: 'center', gap: 12 }}&gt;&#10;        &lt;Box style={{ width: 40, height: 3, background: '#E9A23B' }} /&gt;&#10;        &lt;Text style={{ fontSize: 18, color: '#E9A23B', letterSpacing: 2, fontFamily: &quot;'PingFang SC','Microsoft YaHei',sans-serif&quot; }}&gt;360° 雪山观景平台 · 鱼子西&lt;/Text&gt;&#10;      &lt;/Box&gt;&#10;      &lt;Text style={{ fontSize: 15, color: '#9C9C9C', lineHeight: 1.8, fontFamily: &quot;'PingFang SC','Microsoft YaHei',sans-serif&quot;, maxWidth: 560 }}&gt;雪山环绕，美丽富饶，幸福安静。川西近年爆红的观景秘境，日落时分的「日照金山」与夜晚的璀璨银河尤为震撼。&lt;/Text&gt;&#10;    &lt;/Box&gt;&#10;    &lt;Box style={{ flexDirection: 'row', gap: 40, borderTop: '1px solid rgba(255,255,255,0.14)', paddingTop: 24 }}&gt;&#10;      &lt;Box style={{ flexDirection: 'column', gap: 6 }}&gt;&#10;        &lt;Text style={{ fontSize: 30, fontWeight: 'bold', color: '#F5F5F4', fontFamily: &quot;'Avenir Next','Helvetica Neue',sans-serif&quot; }}&gt;4200&lt;span style={{ fontSize: 14 }}&gt;M&lt;/span&gt;&lt;/Text&gt;&#10;        &lt;Text style={{ fontSize: 12, color: '#9C9C9C', letterSpacing: 2, fontFamily: &quot;'PingFang SC','Microsoft YaHei',sans-serif&quot; }}&gt;平台海拔&lt;/Text&gt;&#10;      &lt;/Box&gt;&#10;      &lt;Box style={{ flexDirection: 'column', gap: 6 }}&gt;&#10;        &lt;Text style={{ fontSize: 30, fontWeight: 'bold', color: '#F5F5F4', fontFamily: &quot;'Avenir Next','Helvetica Neue',sans-serif&quot; }}&gt;360°&lt;/Text&gt;&#10;        &lt;Text style={{ fontSize: 12, color: '#9C9C9C', letterSpacing: 2, fontFamily: &quot;'PingFang SC','Microsoft YaHei',sans-serif&quot; }}&gt;环景视野&lt;/Text&gt;&#10;      &lt;/Box&gt;&#10;      &lt;Box style={{ flexDirection: 'column', gap: 6 }}&gt;&#10;        &lt;Text style={{ fontSize: 30, fontWeight: 'bold', color: '#F5F5F4', fontFamily: &quot;'Avenir Next','Helvetica Neue',sans-serif&quot; }}&gt;3&lt;span style={{ fontSize: 14 }}&gt; 座&lt;/span&gt;&lt;/Text&gt;&#10;        &lt;Text style={{ fontSize: 12, color: '#9C9C9C', letterSpacing: 2, fontFamily: &quot;'PingFang SC','Microsoft YaHei',sans-serif&quot; }}&gt;神山同框&lt;/Text&gt;&#10;      &lt;/Box&gt;&#10;    &lt;/Box&gt;&#10;  &lt;/Box&gt;&#10;  &lt;Image src=&quot;assets/yuzixi_person_mountain.jpg&quot; style={{ width: 490, height: 720, objectFit: 'cover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609600"/>
            <a:ext cx="285750" cy="19050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09650" y="638175"/>
            <a:ext cx="1552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01 — DESTINATION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6381750" cy="12573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5F5F4"/>
                </a:solidFill>
                <a:latin typeface="PingFang SC"/>
                <a:ea typeface="PingFang SC"/>
              </a:rPr>
              <a:t>登上平台</a:t>
            </a:r>
            <a:endParaRPr/>
          </a:p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5F5F4"/>
                </a:solidFill>
                <a:latin typeface="PingFang SC"/>
                <a:ea typeface="PingFang SC"/>
              </a:rPr>
              <a:t>远眺蜀地神山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9600" y="3409950"/>
            <a:ext cx="3810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04900" y="33147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E9A23B"/>
                </a:solidFill>
                <a:latin typeface="PingFang SC"/>
                <a:ea typeface="PingFang SC"/>
              </a:rPr>
              <a:t>360° </a:t>
            </a:r>
            <a:r>
              <a:rPr lang="zh-CN" sz="1350" spc="150">
                <a:solidFill>
                  <a:srgbClr val="E9A23B"/>
                </a:solidFill>
                <a:latin typeface="PingFang SC"/>
                <a:ea typeface="PingFang SC"/>
              </a:rPr>
              <a:t>雪山观景平台</a:t>
            </a:r>
            <a:r>
              <a:rPr lang="en-US" sz="1350" spc="150">
                <a:solidFill>
                  <a:srgbClr val="E9A23B"/>
                </a:solidFill>
                <a:latin typeface="PingFang SC"/>
                <a:ea typeface="PingFang SC"/>
              </a:rPr>
              <a:t> · </a:t>
            </a:r>
            <a:r>
              <a:rPr lang="zh-CN" sz="1350" spc="150">
                <a:solidFill>
                  <a:srgbClr val="E9A23B"/>
                </a:solidFill>
                <a:latin typeface="PingFang SC"/>
                <a:ea typeface="PingFang SC"/>
              </a:rPr>
              <a:t>鱼子西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63817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C9C9C"/>
                </a:solidFill>
                <a:latin typeface="PingFang SC"/>
                <a:ea typeface="PingFang SC"/>
              </a:rPr>
              <a:t>雪山环绕，美丽富饶，幸福安静。川西近年爆红的观景秘境，日落时分的「日照金山」与夜晚的璀璨银河尤为震撼。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5391150"/>
            <a:ext cx="6381750" cy="790575"/>
          </a:xfrm>
          <a:custGeom>
            <a:pathLst>
              <a:path w="670" h="83">
                <a:moveTo>
                  <a:pt x="0" y="0"/>
                </a:moveTo>
                <a:lnTo>
                  <a:pt x="670" y="0"/>
                </a:lnTo>
                <a:lnTo>
                  <a:pt x="6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9600" y="5629275"/>
            <a:ext cx="866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5F5F4"/>
                </a:solidFill>
                <a:latin typeface="Avenir Next"/>
                <a:ea typeface="Avenir Next"/>
              </a:rPr>
              <a:t>4200</a:t>
            </a:r>
            <a:r>
              <a:rPr lang="en-US" sz="1050" b="1">
                <a:solidFill>
                  <a:srgbClr val="F5F5F4"/>
                </a:solidFill>
                <a:latin typeface="Avenir Next"/>
                <a:ea typeface="Avenir Next"/>
              </a:rPr>
              <a:t>M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029325"/>
            <a:ext cx="866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平台海拔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857375" y="5629275"/>
            <a:ext cx="676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5F5F4"/>
                </a:solidFill>
                <a:latin typeface="Avenir Next"/>
                <a:ea typeface="Avenir Next"/>
              </a:rPr>
              <a:t>360°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857375" y="6029325"/>
            <a:ext cx="676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环景视野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2914650" y="56292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5F5F4"/>
                </a:solidFill>
                <a:latin typeface="Avenir Next"/>
                <a:ea typeface="Avenir Next"/>
              </a:rPr>
              <a:t>3</a:t>
            </a:r>
            <a:r>
              <a:rPr lang="en-US" sz="1050" b="1">
                <a:solidFill>
                  <a:srgbClr val="F5F5F4"/>
                </a:solidFill>
                <a:latin typeface="Avenir Next"/>
                <a:ea typeface="Avenir Next"/>
              </a:rPr>
              <a:t> </a:t>
            </a:r>
            <a:r>
              <a:rPr lang="zh-CN" sz="1050" b="1">
                <a:solidFill>
                  <a:srgbClr val="F5F5F4"/>
                </a:solidFill>
                <a:latin typeface="Avenir Next"/>
                <a:ea typeface="Avenir Next"/>
              </a:rPr>
              <a:t>座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2914650" y="602932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神山同框</a:t>
            </a:r>
            <a:endParaRPr/>
          </a:p>
        </p:txBody>
      </p:sp>
      <p:pic>
        <p:nvPicPr>
          <p:cNvPr id="320" name=""/>
          <p:cNvPicPr>
            <a:picLocks noChangeAspect="1"/>
          </p:cNvPicPr>
          <p:nvPr/>
        </p:nvPicPr>
        <p:blipFill>
          <a:blip r:embed="rId2"/>
          <a:srcRect l="7559" t="0" r="7559" b="0"/>
          <a:stretch>
            <a:fillRect/>
          </a:stretch>
        </p:blipFill>
        <p:spPr>
          <a:xfrm rot="0" flipH="0" flipV="0">
            <a:off x="7524750" y="0"/>
            <a:ext cx="466725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" descr="&lt;Slide style={{ width: 1280, height: 720, background: '#0A0A0B', flexDirection: 'row', padding: 0 }}&gt;&#10;  &lt;Box style={{ width: 800, height: 720, flexDirection: 'column', gap: 32, padding: '64px 56px 72px 64px' }}&gt;&#10;    &lt;Box style={{ flexDirection: 'row', alignItems: 'center', gap: 12 }}&gt;&#10;      &lt;Image src=&quot;assets/logo_arcteryx_white.png&quot; style={{ width: 30, height: 20 }} /&gt;&#10;      &lt;Text style={{ fontSize: 11, letterSpacing: 4, color: '#9C9C9C', fontFamily: &quot;'Avenir Next','Helvetica Neue',sans-serif&quot; }}&gt;02 — OVERVIEW&lt;/Text&gt;&#10;    &lt;/Box&gt;&#10;    &lt;Text style={{ fontSize: 34, fontWeight: 'bold', color: '#F5F5F4', fontFamily: &quot;'PingFang SC','Microsoft YaHei',sans-serif&quot; }}&gt;基本信息&lt;/Text&gt;&#10;    &lt;Box style={{ flexDirection: 'column', gap: 0 }}&gt;&#10;      &lt;Box style={{ flexDirection: 'row', alignItems: 'center', gap: 20, padding: '24px 0', borderBottom: '1px solid rgba(255,255,255,0.14)' }}&gt;&#10;        &lt;Text style={{ fontSize: 12, letterSpacing: 3, color: '#9C9C9C', width: 90, fontFamily: &quot;'PingFang SC','Microsoft YaHei',sans-serif&quot; }}&gt;活动时间&lt;/Text&gt;&#10;        &lt;Text style={{ fontSize: 17, color: '#F5F5F4', fontFamily: &quot;'Avenir Next','Helvetica Neue',sans-serif&quot; }}&gt;2026 年 10 月 xx 日 — 10 月 xx 日&lt;/Text&gt;&#10;      &lt;/Box&gt;&#10;      &lt;Box style={{ flexDirection: 'row', alignItems: 'center', gap: 20, padding: '24px 0', borderBottom: '1px solid rgba(255,255,255,0.14)' }}&gt;&#10;        &lt;Text style={{ fontSize: 12, letterSpacing: 3, color: '#9C9C9C', width: 90, fontFamily: &quot;'PingFang SC','Microsoft YaHei',sans-serif&quot; }}&gt;活动人数&lt;/Text&gt;&#10;        &lt;Text style={{ fontSize: 17, color: '#F5F5F4', fontFamily: &quot;'Avenir Next','Helvetica Neue',sans-serif&quot; }}&gt;20 人&lt;/Text&gt;&#10;      &lt;/Box&gt;&#10;      &lt;Box style={{ flexDirection: 'row', alignItems: 'center', gap: 20, padding: '24px 0', borderBottom: '1px solid rgba(255,255,255,0.14)' }}&gt;&#10;        &lt;Text style={{ fontSize: 12, letterSpacing: 3, color: '#9C9C9C', width: 90, fontFamily: &quot;'PingFang SC','Microsoft YaHei',sans-serif&quot; }}&gt;活动地点&lt;/Text&gt;&#10;        &lt;Text style={{ fontSize: 17, color: '#F5F5F4', fontFamily: &quot;'PingFang SC','Microsoft YaHei',sans-serif&quot; }}&gt;四川省甘孜州康定市 · 新都桥镇 · 鱼子西&lt;/Text&gt;&#10;      &lt;/Box&gt;&#10;      &lt;Box style={{ flexDirection: 'row', alignItems: 'center', gap: 20, padding: '24px 0', borderBottom: '1px solid rgba(255,255,255,0.14)' }}&gt;&#10;        &lt;Text style={{ fontSize: 12, letterSpacing: 3, color: '#9C9C9C', width: 90, fontFamily: &quot;'PingFang SC','Microsoft YaHei',sans-serif&quot; }}&gt;住宿安排&lt;/Text&gt;&#10;        &lt;Text style={{ fontSize: 17, color: '#F5F5F4', fontFamily: &quot;'PingFang SC','Microsoft YaHei',sans-serif&quot; }}&gt;新都桥 · 赞巴明镜酒店&lt;/Text&gt;&#10;      &lt;/Box&gt;&#10;    &lt;/Box&gt;&#10;    &lt;Box style={{ flexDirection: 'column', gap: 10, background: 'rgba(255,255,255,0.06)', padding: 24, borderRadius: 4 }}&gt;&#10;      &lt;Text style={{ fontSize: 12, letterSpacing: 3, color: '#E9A23B', fontFamily: &quot;'PingFang SC','Microsoft YaHei',sans-serif&quot; }}&gt;景点介绍&lt;/Text&gt;&#10;      &lt;Text style={{ fontSize: 13.5, color: '#C9C9C9', lineHeight: 1.8, fontFamily: &quot;'PingFang SC','Microsoft YaHei',sans-serif&quot; }}&gt;鱼子西是川西近年爆红的 360° 雪山观景平台，海拔约 4200 米，被誉为「离星空最近的摄影天堂」，可同时眺望贡嘎雪山、雅拉雪山、四姑娘山等神山。日落时分的「日照金山」和夜晚的璀璨银河尤为震撼。&lt;/Text&gt;&#10;    &lt;/Box&gt;&#10;  &lt;/Box&gt;&#10;  &lt;Image src=&quot;assets/monastery_aerial.jpg&quot; style={{ width: 480, height: 720, objectFit: 'cover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323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609600"/>
            <a:ext cx="285750" cy="190500"/>
          </a:xfrm>
          <a:prstGeom prst="rect">
            <a:avLst/>
          </a:prstGeom>
          <a:ln/>
        </p:spPr>
      </p:pic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009650" y="638175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02 — OVERVIEW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1104900"/>
            <a:ext cx="6477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基本信息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1800225"/>
            <a:ext cx="6477000" cy="676275"/>
          </a:xfrm>
          <a:custGeom>
            <a:pathLst>
              <a:path w="680" h="71">
                <a:moveTo>
                  <a:pt x="0" y="70"/>
                </a:moveTo>
                <a:lnTo>
                  <a:pt x="680" y="70"/>
                </a:lnTo>
                <a:lnTo>
                  <a:pt x="680" y="71"/>
                </a:lnTo>
                <a:lnTo>
                  <a:pt x="0" y="7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205740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9C9C9C"/>
                </a:solidFill>
                <a:latin typeface="PingFang SC"/>
                <a:ea typeface="PingFang SC"/>
              </a:rPr>
              <a:t>活动时间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657350" y="202882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5F5F4"/>
                </a:solidFill>
                <a:latin typeface="Avenir Next"/>
                <a:ea typeface="Avenir Next"/>
              </a:rPr>
              <a:t>2026 </a:t>
            </a:r>
            <a:r>
              <a:rPr lang="zh-CN" sz="1275">
                <a:solidFill>
                  <a:srgbClr val="F5F5F4"/>
                </a:solidFill>
                <a:latin typeface="Avenir Next"/>
                <a:ea typeface="Avenir Next"/>
              </a:rPr>
              <a:t>年</a:t>
            </a:r>
            <a:r>
              <a:rPr lang="en-US" sz="1275">
                <a:solidFill>
                  <a:srgbClr val="F5F5F4"/>
                </a:solidFill>
                <a:latin typeface="Avenir Next"/>
                <a:ea typeface="Avenir Next"/>
              </a:rPr>
              <a:t> 10 </a:t>
            </a:r>
            <a:r>
              <a:rPr lang="zh-CN" sz="1275">
                <a:solidFill>
                  <a:srgbClr val="F5F5F4"/>
                </a:solidFill>
                <a:latin typeface="Avenir Next"/>
                <a:ea typeface="Avenir Next"/>
              </a:rPr>
              <a:t>月</a:t>
            </a:r>
            <a:r>
              <a:rPr lang="en-US" sz="1275">
                <a:solidFill>
                  <a:srgbClr val="F5F5F4"/>
                </a:solidFill>
                <a:latin typeface="Avenir Next"/>
                <a:ea typeface="Avenir Next"/>
              </a:rPr>
              <a:t> xx </a:t>
            </a:r>
            <a:r>
              <a:rPr lang="zh-CN" sz="1275">
                <a:solidFill>
                  <a:srgbClr val="F5F5F4"/>
                </a:solidFill>
                <a:latin typeface="Avenir Next"/>
                <a:ea typeface="Avenir Next"/>
              </a:rPr>
              <a:t>日</a:t>
            </a:r>
            <a:r>
              <a:rPr lang="en-US" sz="1275">
                <a:solidFill>
                  <a:srgbClr val="F5F5F4"/>
                </a:solidFill>
                <a:latin typeface="Avenir Next"/>
                <a:ea typeface="Avenir Next"/>
              </a:rPr>
              <a:t> — 10 </a:t>
            </a:r>
            <a:r>
              <a:rPr lang="zh-CN" sz="1275">
                <a:solidFill>
                  <a:srgbClr val="F5F5F4"/>
                </a:solidFill>
                <a:latin typeface="Avenir Next"/>
                <a:ea typeface="Avenir Next"/>
              </a:rPr>
              <a:t>月</a:t>
            </a:r>
            <a:r>
              <a:rPr lang="en-US" sz="1275">
                <a:solidFill>
                  <a:srgbClr val="F5F5F4"/>
                </a:solidFill>
                <a:latin typeface="Avenir Next"/>
                <a:ea typeface="Avenir Next"/>
              </a:rPr>
              <a:t> xx </a:t>
            </a:r>
            <a:r>
              <a:rPr lang="zh-CN" sz="1275">
                <a:solidFill>
                  <a:srgbClr val="F5F5F4"/>
                </a:solidFill>
                <a:latin typeface="Avenir Next"/>
                <a:ea typeface="Avenir Next"/>
              </a:rPr>
              <a:t>日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09600" y="2466975"/>
            <a:ext cx="6477000" cy="676275"/>
          </a:xfrm>
          <a:custGeom>
            <a:pathLst>
              <a:path w="680" h="71">
                <a:moveTo>
                  <a:pt x="0" y="70"/>
                </a:moveTo>
                <a:lnTo>
                  <a:pt x="680" y="70"/>
                </a:lnTo>
                <a:lnTo>
                  <a:pt x="680" y="71"/>
                </a:lnTo>
                <a:lnTo>
                  <a:pt x="0" y="7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9C9C9C"/>
                </a:solidFill>
                <a:latin typeface="PingFang SC"/>
                <a:ea typeface="PingFang SC"/>
              </a:rPr>
              <a:t>活动人数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657350" y="2695575"/>
            <a:ext cx="390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5F5F4"/>
                </a:solidFill>
                <a:latin typeface="Avenir Next"/>
                <a:ea typeface="Avenir Next"/>
              </a:rPr>
              <a:t>20 </a:t>
            </a:r>
            <a:r>
              <a:rPr lang="zh-CN" sz="1275">
                <a:solidFill>
                  <a:srgbClr val="F5F5F4"/>
                </a:solidFill>
                <a:latin typeface="Avenir Next"/>
                <a:ea typeface="Avenir Next"/>
              </a:rPr>
              <a:t>人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3133725"/>
            <a:ext cx="6477000" cy="676275"/>
          </a:xfrm>
          <a:custGeom>
            <a:pathLst>
              <a:path w="680" h="71">
                <a:moveTo>
                  <a:pt x="0" y="70"/>
                </a:moveTo>
                <a:lnTo>
                  <a:pt x="680" y="70"/>
                </a:lnTo>
                <a:lnTo>
                  <a:pt x="680" y="71"/>
                </a:lnTo>
                <a:lnTo>
                  <a:pt x="0" y="7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339090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9C9C9C"/>
                </a:solidFill>
                <a:latin typeface="PingFang SC"/>
                <a:ea typeface="PingFang SC"/>
              </a:rPr>
              <a:t>活动地点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657350" y="3362325"/>
            <a:ext cx="297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5F5F4"/>
                </a:solidFill>
                <a:latin typeface="PingFang SC"/>
                <a:ea typeface="PingFang SC"/>
              </a:rPr>
              <a:t>四川省甘孜州康定市</a:t>
            </a:r>
            <a:r>
              <a:rPr lang="en-US" sz="1275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5F5F4"/>
                </a:solidFill>
                <a:latin typeface="PingFang SC"/>
                <a:ea typeface="PingFang SC"/>
              </a:rPr>
              <a:t>新都桥镇</a:t>
            </a:r>
            <a:r>
              <a:rPr lang="en-US" sz="1275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5F5F4"/>
                </a:solidFill>
                <a:latin typeface="PingFang SC"/>
                <a:ea typeface="PingFang SC"/>
              </a:rPr>
              <a:t>鱼子西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09600" y="3800475"/>
            <a:ext cx="6477000" cy="676275"/>
          </a:xfrm>
          <a:custGeom>
            <a:pathLst>
              <a:path w="680" h="71">
                <a:moveTo>
                  <a:pt x="0" y="70"/>
                </a:moveTo>
                <a:lnTo>
                  <a:pt x="680" y="70"/>
                </a:lnTo>
                <a:lnTo>
                  <a:pt x="680" y="71"/>
                </a:lnTo>
                <a:lnTo>
                  <a:pt x="0" y="7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09600" y="40576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9C9C9C"/>
                </a:solidFill>
                <a:latin typeface="PingFang SC"/>
                <a:ea typeface="PingFang SC"/>
              </a:rPr>
              <a:t>住宿安排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657350" y="402907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5F5F4"/>
                </a:solidFill>
                <a:latin typeface="PingFang SC"/>
                <a:ea typeface="PingFang SC"/>
              </a:rPr>
              <a:t>新都桥</a:t>
            </a:r>
            <a:r>
              <a:rPr lang="en-US" sz="1275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5F5F4"/>
                </a:solidFill>
                <a:latin typeface="PingFang SC"/>
                <a:ea typeface="PingFang SC"/>
              </a:rPr>
              <a:t>赞巴明镜酒店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4772025"/>
            <a:ext cx="6477000" cy="1257300"/>
          </a:xfrm>
          <a:prstGeom prst="roundRect">
            <a:avLst>
              <a:gd name="adj" fmla="val 303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38200" y="5000625"/>
            <a:ext cx="601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E9A23B"/>
                </a:solidFill>
                <a:latin typeface="PingFang SC"/>
                <a:ea typeface="PingFang SC"/>
              </a:rPr>
              <a:t>景点介绍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38200" y="5238750"/>
            <a:ext cx="60198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鱼子西是川西近年爆红的</a:t>
            </a:r>
            <a:r>
              <a:rPr lang="en-US" sz="1013">
                <a:solidFill>
                  <a:srgbClr val="C9C9C9"/>
                </a:solidFill>
                <a:latin typeface="PingFang SC"/>
                <a:ea typeface="PingFang SC"/>
              </a:rPr>
              <a:t> 360° </a:t>
            </a: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雪山观景平台，海拔约</a:t>
            </a:r>
            <a:r>
              <a:rPr lang="en-US" sz="1013">
                <a:solidFill>
                  <a:srgbClr val="C9C9C9"/>
                </a:solidFill>
                <a:latin typeface="PingFang SC"/>
                <a:ea typeface="PingFang SC"/>
              </a:rPr>
              <a:t> 4200 </a:t>
            </a: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米，被誉为「离星空最近的摄影天堂」，可同时眺望贡嘎雪山、雅拉雪山、四姑娘山等神山。日落时分的「日照金山」和夜晚的璀璨银河尤为震撼。</a:t>
            </a:r>
            <a:endParaRPr/>
          </a:p>
        </p:txBody>
      </p:sp>
      <p:pic>
        <p:nvPicPr>
          <p:cNvPr id="341" name=""/>
          <p:cNvPicPr>
            <a:picLocks noChangeAspect="1"/>
          </p:cNvPicPr>
          <p:nvPr/>
        </p:nvPicPr>
        <p:blipFill>
          <a:blip r:embed="rId2"/>
          <a:srcRect l="8738" t="0" r="8738" b="0"/>
          <a:stretch>
            <a:fillRect/>
          </a:stretch>
        </p:blipFill>
        <p:spPr>
          <a:xfrm rot="0" flipH="0" flipV="0">
            <a:off x="7620000" y="0"/>
            <a:ext cx="457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" descr="&lt;Slide style={{ width: 1280, height: 720, background: '#0A0A0B', flexDirection: 'row', padding: 0 }}&gt;&#10;  &lt;Box style={{ width: 860, height: 720, flexDirection: 'column', gap: 26, padding: '64px 48px 72px 64px' }}&gt;&#10;    &lt;Box style={{ flexDirection: 'row', alignItems: 'center', gap: 12 }}&gt;&#10;      &lt;Image src=&quot;assets/logo_arcteryx_white.png&quot; style={{ width: 30, height: 20 }} /&gt;&#10;      &lt;Text style={{ fontSize: 11, letterSpacing: 4, color: '#9C9C9C', fontFamily: &quot;'Avenir Next','Helvetica Neue',sans-serif&quot; }}&gt;03 — ROUTE&lt;/Text&gt;&#10;    &lt;/Box&gt;&#10;    &lt;Text style={{ fontSize: 34, fontWeight: 'bold', color: '#F5F5F4', fontFamily: &quot;'PingFang SC','Microsoft YaHei',sans-serif&quot; }}&gt;行程总览&lt;/Text&gt;&#10;    &lt;Box style={{ flexDirection: 'column', gap: 24, flex: 1 }}&gt;&#10;      &lt;Box style={{ flexDirection: 'column', gap: 14 }}&gt;&#10;        &lt;Text style={{ fontSize: 14, color: '#E9A23B', letterSpacing: 3, fontFamily: &quot;'Avenir Next','Helvetica Neue',sans-serif&quot; }}&gt;DAY 1 &lt;span style={{ color: '#9C9C9C', fontSize: 12, letterSpacing: 2 }}&gt;约 450KM&lt;/span&gt;&lt;/Text&gt;&#10;        &lt;Box style={{ flexDirection: 'row', alignItems: 'center', gap: 10, flexWrap: 'wrap' }}&gt;&#10;          &lt;Box style={{ border: '1px solid rgba(255,255,255,0.22)', borderRadius: 4, padding: '10px 16px', background: 'rgba(255,255,255,0.06)' }}&gt;&lt;Text style={{ fontSize: 13.5, color: '#F5F5F4', fontFamily: &quot;'PingFang SC','Microsoft YaHei',sans-serif&quot; }}&gt;成都&lt;/Text&gt;&lt;/Box&gt;&#10;          &lt;Text style={{ fontSize: 13, color: '#9C9C9C', fontFamily: &quot;'Avenir Next','Helvetica Neue',sans-serif&quot; }}&gt;— 350km →&lt;/Text&gt;&#10;          &lt;Box style={{ border: '1px solid rgba(255,255,255,0.22)', borderRadius: 4, padding: '10px 16px', background: 'rgba(255,255,255,0.06)' }}&gt;&lt;Text style={{ fontSize: 13.5, color: '#F5F5F4', fontFamily: &quot;'PingFang SC','Microsoft YaHei',sans-serif&quot; }}&gt;康定城区&lt;/Text&gt;&lt;/Box&gt;&#10;          &lt;Text style={{ fontSize: 13, color: '#9C9C9C', fontFamily: &quot;'Avenir Next','Helvetica Neue',sans-serif&quot; }}&gt;→&lt;/Text&gt;&#10;          &lt;Box style={{ border: '1px solid rgba(255,255,255,0.22)', borderRadius: 4, padding: '10px 16px', background: 'rgba(255,255,255,0.06)' }}&gt;&lt;Text style={{ fontSize: 13.5, color: '#F5F5F4', fontFamily: &quot;'PingFang SC','Microsoft YaHei',sans-serif&quot; }}&gt;赞巴明镜酒店&lt;/Text&gt;&lt;/Box&gt;&#10;          &lt;Text style={{ fontSize: 13, color: '#9C9C9C', fontFamily: &quot;'Avenir Next','Helvetica Neue',sans-serif&quot; }}&gt;— 50km →&lt;/Text&gt;&#10;          &lt;Box style={{ border: '1px solid #E9A23B', borderRadius: 4, padding: '10px 16px', background: 'rgba(233,162,59,0.12)' }}&gt;&lt;Text style={{ fontSize: 13.5, color: '#E9A23B', fontWeight: 'bold', fontFamily: &quot;'PingFang SC','Microsoft YaHei',sans-serif&quot; }}&gt;鱼子西观景平台&lt;/Text&gt;&lt;/Box&gt;&#10;          &lt;Text style={{ fontSize: 13, color: '#9C9C9C', fontFamily: &quot;'Avenir Next','Helvetica Neue',sans-serif&quot; }}&gt;— 50km →&lt;/Text&gt;&#10;          &lt;Box style={{ border: '1px solid rgba(255,255,255,0.22)', borderRadius: 4, padding: '10px 16px', background: 'rgba(255,255,255,0.06)' }}&gt;&lt;Text style={{ fontSize: 13.5, color: '#F5F5F4', fontFamily: &quot;'PingFang SC','Microsoft YaHei',sans-serif&quot; }}&gt;返回酒店&lt;/Text&gt;&lt;/Box&gt;&#10;        &lt;/Box&gt;&#10;      &lt;/Box&gt;&#10;      &lt;Box style={{ flexDirection: 'column', gap: 14 }}&gt;&#10;        &lt;Text style={{ fontSize: 14, color: '#E9A23B', letterSpacing: 3, fontFamily: &quot;'Avenir Next','Helvetica Neue',sans-serif&quot; }}&gt;DAY 2 &lt;span style={{ color: '#9C9C9C', fontSize: 12, letterSpacing: 2 }}&gt;约 350KM&lt;/span&gt;&lt;/Text&gt;&#10;        &lt;Box style={{ flexDirection: 'row', alignItems: 'center', gap: 10, flexWrap: 'wrap' }}&gt;&#10;          &lt;Box style={{ border: '1px solid rgba(255,255,255,0.22)', borderRadius: 4, padding: '10px 16px', background: 'rgba(255,255,255,0.06)' }}&gt;&lt;Text style={{ fontSize: 13.5, color: '#F5F5F4', fontFamily: &quot;'PingFang SC','Microsoft YaHei',sans-serif&quot; }}&gt;赞巴明镜酒店 · 唐卡体验&lt;/Text&gt;&lt;/Box&gt;&#10;          &lt;Text style={{ fontSize: 13, color: '#9C9C9C', fontFamily: &quot;'Avenir Next','Helvetica Neue',sans-serif&quot; }}&gt;— 350km →&lt;/Text&gt;&#10;          &lt;Box style={{ border: '1px solid rgba(255,255,255,0.22)', borderRadius: 4, padding: '10px 16px', background: 'rgba(255,255,255,0.06)' }}&gt;&lt;Text style={{ fontSize: 13.5, color: '#F5F5F4', fontFamily: &quot;'PingFang SC','Microsoft YaHei',sans-serif&quot; }}&gt;成都&lt;/Text&gt;&lt;/Box&gt;&#10;        &lt;/Box&gt;&#10;      &lt;/Box&gt;&#10;      &lt;Box style={{ flexDirection: 'row', gap: 16, alignItems: 'stretch', flex: 1 }}&gt;&#10;        &lt;Box style={{ flex: 1, background: 'rgba(255,255,255,0.06)', borderRadius: 4, padding: 18, flexDirection: 'column', gap: 8, justifyContent: 'center' }}&gt;&#10;          &lt;Text style={{ fontSize: 12, letterSpacing: 3, color: '#E9A23B', fontFamily: &quot;'PingFang SC','Microsoft YaHei',sans-serif&quot; }}&gt;住宿&lt;/Text&gt;&#10;          &lt;Text style={{ fontSize: 14.5, color: '#F5F5F4', lineHeight: 1.6, fontFamily: &quot;'PingFang SC','Microsoft YaHei',sans-serif&quot; }}&gt;新都桥 · 赞巴明镜酒店，两晚连住不挪行李&lt;/Text&gt;&#10;        &lt;/Box&gt;&#10;        &lt;Box style={{ flex: 1, background: 'rgba(255,255,255,0.06)', borderRadius: 4, padding: 18, flexDirection: 'column', gap: 8, justifyContent: 'center' }}&gt;&#10;          &lt;Text style={{ fontSize: 12, letterSpacing: 3, color: '#E9A23B', fontFamily: &quot;'PingFang SC','Microsoft YaHei',sans-serif&quot; }}&gt;亮点&lt;/Text&gt;&#10;          &lt;Text style={{ fontSize: 14.5, color: '#F5F5F4', lineHeight: 1.6, fontFamily: &quot;'PingFang SC','Microsoft YaHei',sans-serif&quot; }}&gt;日照金山 · 篝火晚宴 · 国家非遗唐卡绘制&lt;/Text&gt;&#10;        &lt;/Box&gt;&#10;      &lt;/Box&gt;&#10;    &lt;/Box&gt;&#10;  &lt;/Box&gt;&#10;  &lt;Image src=&quot;assets/sunset_clouds.jpg&quot; style={{ width: 420, height: 720, objectFit: 'cover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344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609600"/>
            <a:ext cx="285750" cy="190500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009650" y="638175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03 — ROUTE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1047750"/>
            <a:ext cx="7124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行程总览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09600" y="1685925"/>
            <a:ext cx="712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E9A23B"/>
                </a:solidFill>
                <a:latin typeface="Avenir Next"/>
                <a:ea typeface="Avenir Next"/>
              </a:rPr>
              <a:t>DAY 1 </a:t>
            </a:r>
            <a:r>
              <a:rPr lang="zh-CN" sz="900" spc="150">
                <a:solidFill>
                  <a:srgbClr val="9C9C9C"/>
                </a:solidFill>
                <a:latin typeface="Avenir Next"/>
                <a:ea typeface="Avenir Next"/>
              </a:rPr>
              <a:t>约</a:t>
            </a:r>
            <a:r>
              <a:rPr lang="en-US" sz="900" spc="150">
                <a:solidFill>
                  <a:srgbClr val="9C9C9C"/>
                </a:solidFill>
                <a:latin typeface="Avenir Next"/>
                <a:ea typeface="Avenir Next"/>
              </a:rPr>
              <a:t> 450KM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09600" y="1981200"/>
            <a:ext cx="561975" cy="352425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62000" y="2076450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F5F5F4"/>
                </a:solidFill>
                <a:latin typeface="PingFang SC"/>
                <a:ea typeface="PingFang SC"/>
              </a:rPr>
              <a:t>成都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266825" y="2085975"/>
            <a:ext cx="65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9C9C"/>
                </a:solidFill>
                <a:latin typeface="Avenir Next"/>
                <a:ea typeface="Avenir Next"/>
              </a:rPr>
              <a:t>— 350km →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2019300" y="1981200"/>
            <a:ext cx="819150" cy="352425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2171700" y="20764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F5F5F4"/>
                </a:solidFill>
                <a:latin typeface="PingFang SC"/>
                <a:ea typeface="PingFang SC"/>
              </a:rPr>
              <a:t>康定城区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2933700" y="20859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9C9C9C"/>
                </a:solidFill>
                <a:latin typeface="Avenir Next"/>
                <a:ea typeface="Avenir Next"/>
              </a:rPr>
              <a:t>→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3152775" y="1981200"/>
            <a:ext cx="1076325" cy="352425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305175" y="2076450"/>
            <a:ext cx="771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F5F5F4"/>
                </a:solidFill>
                <a:latin typeface="PingFang SC"/>
                <a:ea typeface="PingFang SC"/>
              </a:rPr>
              <a:t>赞巴明镜酒店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324350" y="20859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9C9C"/>
                </a:solidFill>
                <a:latin typeface="Avenir Next"/>
                <a:ea typeface="Avenir Next"/>
              </a:rPr>
              <a:t>— 50km →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5000625" y="1981200"/>
            <a:ext cx="1209675" cy="352425"/>
          </a:xfrm>
          <a:prstGeom prst="roundRect">
            <a:avLst>
              <a:gd name="adj" fmla="val 10811"/>
            </a:avLst>
          </a:prstGeom>
          <a:solidFill>
            <a:srgbClr val="E9A23B">
              <a:alpha val="12000"/>
            </a:srgbClr>
          </a:solidFill>
          <a:ln w="12700">
            <a:solidFill>
              <a:srgbClr val="E9A23B"/>
            </a:solidFill>
            <a:prstDash val="solid"/>
          </a:ln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153025" y="20764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9A23B"/>
                </a:solidFill>
                <a:latin typeface="PingFang SC"/>
                <a:ea typeface="PingFang SC"/>
              </a:rPr>
              <a:t>鱼子西观景平台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305550" y="20859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9C9C"/>
                </a:solidFill>
                <a:latin typeface="Avenir Next"/>
                <a:ea typeface="Avenir Next"/>
              </a:rPr>
              <a:t>— 50km →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" y="2428875"/>
            <a:ext cx="819150" cy="352425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62000" y="252412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F5F5F4"/>
                </a:solidFill>
                <a:latin typeface="PingFang SC"/>
                <a:ea typeface="PingFang SC"/>
              </a:rPr>
              <a:t>返回酒店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3009900"/>
            <a:ext cx="712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E9A23B"/>
                </a:solidFill>
                <a:latin typeface="Avenir Next"/>
                <a:ea typeface="Avenir Next"/>
              </a:rPr>
              <a:t>DAY 2 </a:t>
            </a:r>
            <a:r>
              <a:rPr lang="zh-CN" sz="900" spc="150">
                <a:solidFill>
                  <a:srgbClr val="9C9C9C"/>
                </a:solidFill>
                <a:latin typeface="Avenir Next"/>
                <a:ea typeface="Avenir Next"/>
              </a:rPr>
              <a:t>约</a:t>
            </a:r>
            <a:r>
              <a:rPr lang="en-US" sz="900" spc="150">
                <a:solidFill>
                  <a:srgbClr val="9C9C9C"/>
                </a:solidFill>
                <a:latin typeface="Avenir Next"/>
                <a:ea typeface="Avenir Next"/>
              </a:rPr>
              <a:t> 350KM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9600" y="3305175"/>
            <a:ext cx="1743075" cy="352425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62000" y="3400425"/>
            <a:ext cx="1438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F5F5F4"/>
                </a:solidFill>
                <a:latin typeface="PingFang SC"/>
                <a:ea typeface="PingFang SC"/>
              </a:rPr>
              <a:t>赞巴明镜酒店</a:t>
            </a:r>
            <a:r>
              <a:rPr lang="en-US" sz="1013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013">
                <a:solidFill>
                  <a:srgbClr val="F5F5F4"/>
                </a:solidFill>
                <a:latin typeface="PingFang SC"/>
                <a:ea typeface="PingFang SC"/>
              </a:rPr>
              <a:t>唐卡体验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2447925" y="3409950"/>
            <a:ext cx="65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9C9C"/>
                </a:solidFill>
                <a:latin typeface="Avenir Next"/>
                <a:ea typeface="Avenir Next"/>
              </a:rPr>
              <a:t>— 350km →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200400" y="3305175"/>
            <a:ext cx="561975" cy="352425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352800" y="3400425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F5F5F4"/>
                </a:solidFill>
                <a:latin typeface="PingFang SC"/>
                <a:ea typeface="PingFang SC"/>
              </a:rPr>
              <a:t>成都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09600" y="3886200"/>
            <a:ext cx="3486150" cy="2286000"/>
          </a:xfrm>
          <a:prstGeom prst="roundRect">
            <a:avLst>
              <a:gd name="adj" fmla="val 166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E9A23B"/>
                </a:solidFill>
                <a:latin typeface="PingFang SC"/>
                <a:ea typeface="PingFang SC"/>
              </a:rPr>
              <a:t>住宿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81050" y="5010150"/>
            <a:ext cx="314325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F5F5F4"/>
                </a:solidFill>
                <a:latin typeface="PingFang SC"/>
                <a:ea typeface="PingFang SC"/>
              </a:rPr>
              <a:t>新都桥</a:t>
            </a:r>
            <a:r>
              <a:rPr lang="en-US" sz="1088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088">
                <a:solidFill>
                  <a:srgbClr val="F5F5F4"/>
                </a:solidFill>
                <a:latin typeface="PingFang SC"/>
                <a:ea typeface="PingFang SC"/>
              </a:rPr>
              <a:t>赞巴明镜酒店，两晚连住不挪行李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4248150" y="3886200"/>
            <a:ext cx="3486150" cy="2286000"/>
          </a:xfrm>
          <a:prstGeom prst="roundRect">
            <a:avLst>
              <a:gd name="adj" fmla="val 166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419600" y="4791075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E9A23B"/>
                </a:solidFill>
                <a:latin typeface="PingFang SC"/>
                <a:ea typeface="PingFang SC"/>
              </a:rPr>
              <a:t>亮点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419600" y="5010150"/>
            <a:ext cx="314325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F5F5F4"/>
                </a:solidFill>
                <a:latin typeface="PingFang SC"/>
                <a:ea typeface="PingFang SC"/>
              </a:rPr>
              <a:t>日照金山</a:t>
            </a:r>
            <a:r>
              <a:rPr lang="en-US" sz="1088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088">
                <a:solidFill>
                  <a:srgbClr val="F5F5F4"/>
                </a:solidFill>
                <a:latin typeface="PingFang SC"/>
                <a:ea typeface="PingFang SC"/>
              </a:rPr>
              <a:t>篝火晚宴</a:t>
            </a:r>
            <a:r>
              <a:rPr lang="en-US" sz="1088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088">
                <a:solidFill>
                  <a:srgbClr val="F5F5F4"/>
                </a:solidFill>
                <a:latin typeface="PingFang SC"/>
                <a:ea typeface="PingFang SC"/>
              </a:rPr>
              <a:t>国家非遗唐卡绘制</a:t>
            </a:r>
            <a:endParaRPr/>
          </a:p>
        </p:txBody>
      </p:sp>
      <p:pic>
        <p:nvPicPr>
          <p:cNvPr id="374" name=""/>
          <p:cNvPicPr>
            <a:picLocks noChangeAspect="1"/>
          </p:cNvPicPr>
          <p:nvPr/>
        </p:nvPicPr>
        <p:blipFill>
          <a:blip r:embed="rId2"/>
          <a:srcRect l="14124" t="0" r="14124" b="0"/>
          <a:stretch>
            <a:fillRect/>
          </a:stretch>
        </p:blipFill>
        <p:spPr>
          <a:xfrm rot="0" flipH="0" flipV="0">
            <a:off x="8191500" y="0"/>
            <a:ext cx="40005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" descr="&lt;Slide style={{ width: 1280, height: 720, background: '#0A0A0B', flexDirection: 'column', padding: '64px 64px 60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04 — DAY 1 SCHEDULE&lt;/Text&gt;&#10;  &lt;/Box&gt;&#10;  &lt;Box style={{ flexDirection: 'row', alignItems: 'flex-end', justifyContent: 'space-between', marginTop: 18 }}&gt;&#10;    &lt;Text style={{ fontSize: 34, fontWeight: 'bold', color: '#F5F5F4', fontFamily: &quot;'PingFang SC','Microsoft YaHei',sans-serif&quot; }}&gt;Day 1 时间计划&lt;/Text&gt;&#10;    &lt;Text style={{ fontSize: 13, color: '#9C9C9C', letterSpacing: 2, fontFamily: &quot;'PingFang SC','Microsoft YaHei',sans-serif&quot; }}&gt;成都 → 康定 → 新都桥 → 鱼子西&lt;/Text&gt;&#10;  &lt;/Box&gt;&#10;  &lt;Box style={{ flexDirection: 'column', gap: 0, marginTop: 24, flex: 1 }}&gt;&#10;    {[&#10;      ['08:00 - 12:00', '成都集合出发，前往康定城区'],&#10;      ['12:00 - 13:00', '康定城区午餐 · 菌王府（溜溜城店）'],&#10;      ['13:00 - 15:00', '前往新都桥 · 赞巴明镜酒店'],&#10;      ['15:00 - 16:00', '办理入住，稍作休整'],&#10;      ['16:00 - 17:30', '出发前往鱼子西'],&#10;      ['17:30 - 18:00', '抵达最佳观景位置'],&#10;      ['18:00 - 19:30', '环眺贡嘎 · 雅拉「日照金山」（路餐补给）'],&#10;      ['19:30 - 21:00', '返回酒店 · 篝火晚宴'],&#10;    ].map((item, idx) =&gt; (&#10;      &lt;Box key={idx} style={{ flexDirection: 'row', alignItems: 'center', gap: 20, padding: '15px 0', borderBottom: idx &lt; 7 ? '1px solid rgba(255,255,255,0.1)' : 'none', background: idx === 6 ? 'rgba(233,162,59,0.10)' : 'transparent' }}&gt;&#10;        &lt;Text style={{ fontSize: 15, fontWeight: 'bold', color: idx === 6 ? '#E9A23B' : '#F5F5F4', width: 170, fontFamily: &quot;'Avenir Next','Helvetica Neue',sans-serif&quot; }}&gt;{item[0]}&lt;/Text&gt;&#10;        &lt;Box style={{ width: 6, height: 6, borderRadius: 3, background: idx === 6 ? '#E9A23B' : 'rgba(255,255,255,0.35)' }} /&gt;&#10;        &lt;Text style={{ fontSize: 15, color: idx === 6 ? '#F5F5F4' : '#C9C9C9', fontFamily: &quot;'PingFang SC','Microsoft YaHei',sans-serif&quot; }}&gt;{item[1]}&lt;/Text&gt;&#10;      &lt;/Box&gt;&#10;    ))}&#10;  &lt;/Box&gt;&#10;  &lt;Box style={{ flexDirection: 'row', gap: 16, marginTop: 22 }}&gt;&#10;    {[&#10;      ['450KM', '全天车程'],&#10;      ['4200M', '最高海拔'],&#10;      ['90MIN', '金山观景'],&#10;      ['21:00', '返回酒店'],&#10;    ].map((s, idx) =&gt; (&#10;      &lt;Box key={idx} style={{ flex: 1, background: 'rgba(255,255,255,0.06)', borderRadius: 4, padding: '14px 18px', flexDirection: 'column', gap: 4 }}&gt;&#10;        &lt;Text style={{ fontSize: 20, fontWeight: 'bold', color: '#F5F5F4', fontFamily: &quot;'Avenir Next','Helvetica Neue',sans-serif&quot; }}&gt;{s[0]}&lt;/Text&gt;&#10;        &lt;Text style={{ fontSize: 12, color: '#9C9C9C', letterSpacing: 2, fontFamily: &quot;'PingFang SC','Microsoft YaHei',sans-serif&quot; }}&gt;{s[1]}&lt;/Text&gt;&#10;      &lt;/Box&gt;&#10;    ))}&#10;  &lt;/Box&gt;&#10;  &lt;Box style={{ flexDirection: 'row', justifyContent: 'space-between', borderTop: '1px solid rgba(255,255,255,0.14)', paddingTop: 12, marginTop: 20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05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377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609600"/>
            <a:ext cx="285750" cy="190500"/>
          </a:xfrm>
          <a:prstGeom prst="rect">
            <a:avLst/>
          </a:prstGeom>
          <a:ln/>
        </p:spPr>
      </p:pic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009650" y="638175"/>
            <a:ext cx="1838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04 — DAY 1 SCHEDULE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9600" y="971550"/>
            <a:ext cx="2238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5F5F4"/>
                </a:solidFill>
                <a:latin typeface="PingFang SC"/>
                <a:ea typeface="PingFang SC"/>
              </a:rPr>
              <a:t>Day 1 </a:t>
            </a: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时间计划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363075" y="120967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成都</a:t>
            </a:r>
            <a:r>
              <a:rPr lang="en-US" sz="975" spc="150">
                <a:solidFill>
                  <a:srgbClr val="9C9C9C"/>
                </a:solidFill>
                <a:latin typeface="PingFang SC"/>
                <a:ea typeface="PingFang SC"/>
              </a:rPr>
              <a:t> → </a:t>
            </a: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康定</a:t>
            </a:r>
            <a:r>
              <a:rPr lang="en-US" sz="975" spc="150">
                <a:solidFill>
                  <a:srgbClr val="9C9C9C"/>
                </a:solidFill>
                <a:latin typeface="PingFang SC"/>
                <a:ea typeface="PingFang SC"/>
              </a:rPr>
              <a:t> → </a:t>
            </a: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新都桥</a:t>
            </a:r>
            <a:r>
              <a:rPr lang="en-US" sz="975" spc="150">
                <a:solidFill>
                  <a:srgbClr val="9C9C9C"/>
                </a:solidFill>
                <a:latin typeface="PingFang SC"/>
                <a:ea typeface="PingFang SC"/>
              </a:rPr>
              <a:t> → </a:t>
            </a: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鱼子西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1590675"/>
            <a:ext cx="10972800" cy="476250"/>
          </a:xfrm>
          <a:custGeom>
            <a:pathLst>
              <a:path w="1152" h="50">
                <a:moveTo>
                  <a:pt x="0" y="49"/>
                </a:moveTo>
                <a:lnTo>
                  <a:pt x="1152" y="49"/>
                </a:lnTo>
                <a:lnTo>
                  <a:pt x="115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5F4"/>
                </a:solidFill>
                <a:latin typeface="Avenir Next"/>
                <a:ea typeface="Avenir Next"/>
              </a:rPr>
              <a:t>08:00 - 12:00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2419350" y="17907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667000" y="17335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成都集合出发，前往康定城区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2057400"/>
            <a:ext cx="10972800" cy="476250"/>
          </a:xfrm>
          <a:custGeom>
            <a:pathLst>
              <a:path w="1152" h="50">
                <a:moveTo>
                  <a:pt x="0" y="49"/>
                </a:moveTo>
                <a:lnTo>
                  <a:pt x="1152" y="49"/>
                </a:lnTo>
                <a:lnTo>
                  <a:pt x="115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5F4"/>
                </a:solidFill>
                <a:latin typeface="Avenir Next"/>
                <a:ea typeface="Avenir Next"/>
              </a:rPr>
              <a:t>12:00 - 13:00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2419350" y="2257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2667000" y="220027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康定城区午餐</a:t>
            </a:r>
            <a:r>
              <a:rPr lang="en-US" sz="1125">
                <a:solidFill>
                  <a:srgbClr val="C9C9C9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菌王府（溜溜城店）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09600" y="2524125"/>
            <a:ext cx="10972800" cy="476250"/>
          </a:xfrm>
          <a:custGeom>
            <a:pathLst>
              <a:path w="1152" h="50">
                <a:moveTo>
                  <a:pt x="0" y="49"/>
                </a:moveTo>
                <a:lnTo>
                  <a:pt x="1152" y="49"/>
                </a:lnTo>
                <a:lnTo>
                  <a:pt x="115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5F4"/>
                </a:solidFill>
                <a:latin typeface="Avenir Next"/>
                <a:ea typeface="Avenir Next"/>
              </a:rPr>
              <a:t>13:00 - 15:00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2419350" y="2724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2667000" y="266700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前往新都桥</a:t>
            </a:r>
            <a:r>
              <a:rPr lang="en-US" sz="1125">
                <a:solidFill>
                  <a:srgbClr val="C9C9C9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赞巴明镜酒店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609600" y="2990850"/>
            <a:ext cx="10972800" cy="476250"/>
          </a:xfrm>
          <a:custGeom>
            <a:pathLst>
              <a:path w="1152" h="50">
                <a:moveTo>
                  <a:pt x="0" y="49"/>
                </a:moveTo>
                <a:lnTo>
                  <a:pt x="1152" y="49"/>
                </a:lnTo>
                <a:lnTo>
                  <a:pt x="115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09600" y="31337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5F4"/>
                </a:solidFill>
                <a:latin typeface="Avenir Next"/>
                <a:ea typeface="Avenir Next"/>
              </a:rPr>
              <a:t>15:00 - 16:00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2419350" y="3190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2667000" y="31337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办理入住，稍作休整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09600" y="3457575"/>
            <a:ext cx="10972800" cy="476250"/>
          </a:xfrm>
          <a:custGeom>
            <a:pathLst>
              <a:path w="1152" h="50">
                <a:moveTo>
                  <a:pt x="0" y="49"/>
                </a:moveTo>
                <a:lnTo>
                  <a:pt x="1152" y="49"/>
                </a:lnTo>
                <a:lnTo>
                  <a:pt x="115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5F4"/>
                </a:solidFill>
                <a:latin typeface="Avenir Next"/>
                <a:ea typeface="Avenir Next"/>
              </a:rPr>
              <a:t>16:00 - 17:30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2419350" y="3657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2667000" y="36004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出发前往鱼子西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9600" y="3924300"/>
            <a:ext cx="10972800" cy="476250"/>
          </a:xfrm>
          <a:custGeom>
            <a:pathLst>
              <a:path w="1152" h="50">
                <a:moveTo>
                  <a:pt x="0" y="49"/>
                </a:moveTo>
                <a:lnTo>
                  <a:pt x="1152" y="49"/>
                </a:lnTo>
                <a:lnTo>
                  <a:pt x="115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40671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5F4"/>
                </a:solidFill>
                <a:latin typeface="Avenir Next"/>
                <a:ea typeface="Avenir Next"/>
              </a:rPr>
              <a:t>17:30 - 18:00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2419350" y="4124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2667000" y="406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抵达最佳观景位置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9600" y="4391025"/>
            <a:ext cx="10972800" cy="466725"/>
          </a:xfrm>
          <a:prstGeom prst="rect">
            <a:avLst/>
          </a:prstGeom>
          <a:solidFill>
            <a:srgbClr val="E9A23B">
              <a:alpha val="10000"/>
            </a:srgbClr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609600" y="4391025"/>
            <a:ext cx="10972800" cy="476250"/>
          </a:xfrm>
          <a:custGeom>
            <a:pathLst>
              <a:path w="1152" h="50">
                <a:moveTo>
                  <a:pt x="0" y="49"/>
                </a:moveTo>
                <a:lnTo>
                  <a:pt x="1152" y="49"/>
                </a:lnTo>
                <a:lnTo>
                  <a:pt x="115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09600" y="45339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9A23B"/>
                </a:solidFill>
                <a:latin typeface="Avenir Next"/>
                <a:ea typeface="Avenir Next"/>
              </a:rPr>
              <a:t>18:00 - 19:30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2419350" y="45910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2667000" y="453390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F5F4"/>
                </a:solidFill>
                <a:latin typeface="PingFang SC"/>
                <a:ea typeface="PingFang SC"/>
              </a:rPr>
              <a:t>环眺贡嘎</a:t>
            </a:r>
            <a:r>
              <a:rPr lang="en-US" sz="1125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F5F5F4"/>
                </a:solidFill>
                <a:latin typeface="PingFang SC"/>
                <a:ea typeface="PingFang SC"/>
              </a:rPr>
              <a:t>雅拉「日照金山」（路餐补给）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50006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5F4"/>
                </a:solidFill>
                <a:latin typeface="Avenir Next"/>
                <a:ea typeface="Avenir Next"/>
              </a:rPr>
              <a:t>19:30 - 21:00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2419350" y="50577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2667000" y="5000625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返回酒店</a:t>
            </a:r>
            <a:r>
              <a:rPr lang="en-US" sz="1125">
                <a:solidFill>
                  <a:srgbClr val="C9C9C9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篝火晚宴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5524500"/>
            <a:ext cx="2628900" cy="676275"/>
          </a:xfrm>
          <a:prstGeom prst="roundRect">
            <a:avLst>
              <a:gd name="adj" fmla="val 563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81050" y="565785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F5F4"/>
                </a:solidFill>
                <a:latin typeface="Avenir Next"/>
                <a:ea typeface="Avenir Next"/>
              </a:rPr>
              <a:t>450KM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81050" y="592455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全天车程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3390900" y="5524500"/>
            <a:ext cx="2628900" cy="676275"/>
          </a:xfrm>
          <a:prstGeom prst="roundRect">
            <a:avLst>
              <a:gd name="adj" fmla="val 563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562350" y="565785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F5F4"/>
                </a:solidFill>
                <a:latin typeface="Avenir Next"/>
                <a:ea typeface="Avenir Next"/>
              </a:rPr>
              <a:t>4200M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562350" y="592455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最高海拔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172200" y="5524500"/>
            <a:ext cx="2628900" cy="676275"/>
          </a:xfrm>
          <a:prstGeom prst="roundRect">
            <a:avLst>
              <a:gd name="adj" fmla="val 563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343650" y="565785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F5F4"/>
                </a:solidFill>
                <a:latin typeface="Avenir Next"/>
                <a:ea typeface="Avenir Next"/>
              </a:rPr>
              <a:t>90MIN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343650" y="592455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金山观景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8953500" y="5524500"/>
            <a:ext cx="2628900" cy="676275"/>
          </a:xfrm>
          <a:prstGeom prst="roundRect">
            <a:avLst>
              <a:gd name="adj" fmla="val 563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124950" y="565785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F5F4"/>
                </a:solidFill>
                <a:latin typeface="Avenir Next"/>
                <a:ea typeface="Avenir Next"/>
              </a:rPr>
              <a:t>21:00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9124950" y="592455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返回酒店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09600" y="6391275"/>
            <a:ext cx="10972800" cy="247650"/>
          </a:xfrm>
          <a:custGeom>
            <a:pathLst>
              <a:path w="1152" h="2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144250" y="65151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" descr="&lt;Slide style={{ width: 1280, height: 720, background: '#0A0A0B', flexDirection: 'column', padding: '64px 64px 60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05 — DAY 1 DINING&lt;/Text&gt;&#10;  &lt;/Box&gt;&#10;  &lt;Box style={{ flexDirection: 'row', alignItems: 'flex-end', justifyContent: 'space-between', marginTop: 18 }}&gt;&#10;    &lt;Text style={{ fontSize: 34, fontWeight: 'bold', color: '#F5F5F4', fontFamily: &quot;'PingFang SC','Microsoft YaHei',sans-serif&quot; }}&gt;Day 1 餐食计划&lt;/Text&gt;&#10;    &lt;Text style={{ fontSize: 13, color: '#9C9C9C', letterSpacing: 2, fontFamily: &quot;'PingFang SC','Microsoft YaHei',sans-serif&quot; }}&gt;藏式风味 · 从菌汤到篝火烤肉&lt;/Text&gt;&#10;  &lt;/Box&gt;&#10;  &lt;Box style={{ flexDirection: 'row', gap: 24, marginTop: 24, flex: 1 }}&gt;&#10;    &lt;Box style={{ flex: 1.35, flexDirection: 'column', gap: 0, background: 'rgba(255,255,255,0.06)', borderRadius: 6, overflow: 'hidden' }}&gt;&#10;      &lt;Image src=&quot;assets/junwangfu_banner.png&quot; style={{ width: '100%', height: 163, objectFit: 'cover' }} /&gt;&#10;      &lt;Box style={{ flexDirection: 'row', gap: 0, flex: 1 }}&gt;&#10;        &lt;Image src=&quot;assets/hotpot_table.png&quot; style={{ width: '50%', height: '100%', objectFit: 'cover' }} /&gt;&#10;        &lt;Box style={{ flex: 1, flexDirection: 'column', gap: 10, padding: '18px 20px', justifyContent: 'center' }}&gt;&#10;          &lt;Text style={{ fontSize: 12, letterSpacing: 3, color: '#E9A23B', fontFamily: &quot;'Avenir Next','Helvetica Neue',sans-serif&quot; }}&gt;LUNCH · 12:00&lt;/Text&gt;&#10;          &lt;Text style={{ fontSize: 19, fontWeight: 'bold', color: '#F5F5F4', fontFamily: &quot;'PingFang SC','Microsoft YaHei',sans-serif&quot; }}&gt;午餐 · 菌王府&lt;/Text&gt;&#10;          &lt;Text style={{ fontSize: 13, color: '#9C9C9C', lineHeight: 1.7, fontFamily: &quot;'PingFang SC','Microsoft YaHei',sans-serif&quot; }}&gt;康定城区 · 溜溜城店&lt;br /&gt;藏式特色牛肉菌汤锅&lt;/Text&gt;&#10;        &lt;/Box&gt;&#10;      &lt;/Box&gt;&#10;    &lt;/Box&gt;&#10;    &lt;Box style={{ flex: 1, flexDirection: 'column', gap: 0, background: 'rgba(255,255,255,0.06)', borderRadius: 6, overflow: 'hidden' }}&gt;&#10;      &lt;Image src=&quot;assets/bbq_grill.png&quot; style={{ width: '100%', height: 280, objectFit: 'cover' }} /&gt;&#10;      &lt;Box style={{ flex: 1, flexDirection: 'column', gap: 10, padding: '18px 20px', justifyContent: 'center' }}&gt;&#10;        &lt;Text style={{ fontSize: 12, letterSpacing: 3, color: '#E9A23B', fontFamily: &quot;'Avenir Next','Helvetica Neue',sans-serif&quot; }}&gt;DINNER · 19:30&lt;/Text&gt;&#10;        &lt;Text style={{ fontSize: 19, fontWeight: 'bold', color: '#F5F5F4', fontFamily: &quot;'PingFang SC','Microsoft YaHei',sans-serif&quot; }}&gt;晚餐 · 赞巴直火草原烤肉&lt;/Text&gt;&#10;        &lt;Text style={{ fontSize: 13, color: '#9C9C9C', lineHeight: 1.7, fontFamily: &quot;'PingFang SC','Microsoft YaHei',sans-serif&quot; }}&gt;返回酒店后 · 篝火晚宴同场开烤&lt;/Text&gt;&#10;      &lt;/Box&gt;&#10;    &lt;/Box&gt;&#10;  &lt;/Box&gt;&#10;  &lt;Box style={{ flexDirection: 'row', justifyContent: 'space-between', borderTop: '1px solid rgba(255,255,255,0.14)', paddingTop: 12, marginTop: 16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06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430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609600"/>
            <a:ext cx="285750" cy="190500"/>
          </a:xfrm>
          <a:prstGeom prst="rect">
            <a:avLst/>
          </a:prstGeom>
          <a:ln/>
        </p:spPr>
      </p:pic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1009650" y="638175"/>
            <a:ext cx="1590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05 — DAY 1 DINING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09600" y="971550"/>
            <a:ext cx="2238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5F5F4"/>
                </a:solidFill>
                <a:latin typeface="PingFang SC"/>
                <a:ea typeface="PingFang SC"/>
              </a:rPr>
              <a:t>Day 1 </a:t>
            </a: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餐食计划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9658350" y="1209675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藏式风味</a:t>
            </a:r>
            <a:r>
              <a:rPr lang="en-US" sz="975" spc="150">
                <a:solidFill>
                  <a:srgbClr val="9C9C9C"/>
                </a:solidFill>
                <a:latin typeface="PingFang SC"/>
                <a:ea typeface="PingFang SC"/>
              </a:rPr>
              <a:t> · </a:t>
            </a: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从菌汤到篝火烤肉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1590675"/>
            <a:ext cx="6172200" cy="4305300"/>
          </a:xfrm>
          <a:prstGeom prst="roundRect">
            <a:avLst>
              <a:gd name="adj" fmla="val 132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pic>
        <p:nvPicPr>
          <p:cNvPr id="435" name=""/>
          <p:cNvPicPr>
            <a:picLocks noChangeAspect="1"/>
          </p:cNvPicPr>
          <p:nvPr/>
        </p:nvPicPr>
        <p:blipFill>
          <a:blip r:embed="rId2"/>
          <a:srcRect l="0" t="140" r="0" b="140"/>
          <a:stretch>
            <a:fillRect/>
          </a:stretch>
        </p:blipFill>
        <p:spPr>
          <a:xfrm rot="0" flipH="0" flipV="0">
            <a:off x="609600" y="1590675"/>
            <a:ext cx="6172200" cy="1552575"/>
          </a:xfrm>
          <a:custGeom>
            <a:pathLst>
              <a:path w="648" h="163">
                <a:moveTo>
                  <a:pt x="642" y="0"/>
                </a:moveTo>
                <a:cubicBezTo>
                  <a:pt x="645" y="0"/>
                  <a:pt x="648" y="3"/>
                  <a:pt x="648" y="6"/>
                </a:cubicBezTo>
                <a:lnTo>
                  <a:pt x="648" y="163"/>
                </a:lnTo>
                <a:lnTo>
                  <a:pt x="0" y="163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642" y="0"/>
                </a:lnTo>
                <a:close/>
              </a:path>
            </a:pathLst>
          </a:custGeom>
          <a:ln/>
        </p:spPr>
      </p:pic>
      <p:pic>
        <p:nvPicPr>
          <p:cNvPr id="436" name=""/>
          <p:cNvPicPr>
            <a:picLocks noChangeAspect="1"/>
          </p:cNvPicPr>
          <p:nvPr/>
        </p:nvPicPr>
        <p:blipFill>
          <a:blip r:embed="rId3"/>
          <a:srcRect l="11321" t="0" r="11321" b="0"/>
          <a:stretch>
            <a:fillRect/>
          </a:stretch>
        </p:blipFill>
        <p:spPr>
          <a:xfrm rot="0" flipH="0" flipV="0">
            <a:off x="609600" y="3143250"/>
            <a:ext cx="3086100" cy="2752725"/>
          </a:xfrm>
          <a:prstGeom prst="rect">
            <a:avLst/>
          </a:prstGeom>
          <a:ln/>
        </p:spPr>
      </p:pic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3886200" y="3990975"/>
            <a:ext cx="270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E9A23B"/>
                </a:solidFill>
                <a:latin typeface="Avenir Next"/>
                <a:ea typeface="Avenir Next"/>
              </a:rPr>
              <a:t>LUNCH · 12:00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3886200" y="4229100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5F4"/>
                </a:solidFill>
                <a:latin typeface="PingFang SC"/>
                <a:ea typeface="PingFang SC"/>
              </a:rPr>
              <a:t>午餐</a:t>
            </a:r>
            <a:r>
              <a:rPr lang="en-US" sz="1425" b="1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425" b="1">
                <a:solidFill>
                  <a:srgbClr val="F5F5F4"/>
                </a:solidFill>
                <a:latin typeface="PingFang SC"/>
                <a:ea typeface="PingFang SC"/>
              </a:rPr>
              <a:t>菌王府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3886200" y="4543425"/>
            <a:ext cx="27051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C9C9C"/>
                </a:solidFill>
                <a:latin typeface="PingFang SC"/>
                <a:ea typeface="PingFang SC"/>
              </a:rPr>
              <a:t>康定城区</a:t>
            </a:r>
            <a:r>
              <a:rPr lang="en-US" sz="975">
                <a:solidFill>
                  <a:srgbClr val="9C9C9C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9C9C9C"/>
                </a:solidFill>
                <a:latin typeface="PingFang SC"/>
                <a:ea typeface="PingFang SC"/>
              </a:rPr>
              <a:t>溜溜城店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9C9C9C"/>
                </a:solidFill>
                <a:latin typeface="PingFang SC"/>
                <a:ea typeface="PingFang SC"/>
              </a:rPr>
              <a:t>藏式特色牛肉菌汤锅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7010400" y="1590675"/>
            <a:ext cx="4572000" cy="4305300"/>
          </a:xfrm>
          <a:prstGeom prst="roundRect">
            <a:avLst>
              <a:gd name="adj" fmla="val 132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pic>
        <p:nvPicPr>
          <p:cNvPr id="441" name=""/>
          <p:cNvPicPr>
            <a:picLocks noChangeAspect="1"/>
          </p:cNvPicPr>
          <p:nvPr/>
        </p:nvPicPr>
        <p:blipFill>
          <a:blip r:embed="rId4"/>
          <a:srcRect l="0" t="28116" r="0" b="28116"/>
          <a:stretch>
            <a:fillRect/>
          </a:stretch>
        </p:blipFill>
        <p:spPr>
          <a:xfrm rot="0" flipH="0" flipV="0">
            <a:off x="7010400" y="1590675"/>
            <a:ext cx="4572000" cy="2667000"/>
          </a:xfrm>
          <a:custGeom>
            <a:pathLst>
              <a:path w="480" h="280">
                <a:moveTo>
                  <a:pt x="474" y="0"/>
                </a:moveTo>
                <a:cubicBezTo>
                  <a:pt x="477" y="0"/>
                  <a:pt x="480" y="3"/>
                  <a:pt x="480" y="6"/>
                </a:cubicBezTo>
                <a:lnTo>
                  <a:pt x="480" y="280"/>
                </a:lnTo>
                <a:lnTo>
                  <a:pt x="0" y="280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74" y="0"/>
                </a:lnTo>
                <a:close/>
              </a:path>
            </a:pathLst>
          </a:custGeom>
          <a:ln/>
        </p:spPr>
      </p:pic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200900" y="4676775"/>
            <a:ext cx="419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E9A23B"/>
                </a:solidFill>
                <a:latin typeface="Avenir Next"/>
                <a:ea typeface="Avenir Next"/>
              </a:rPr>
              <a:t>DINNER · 19:30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200900" y="4914900"/>
            <a:ext cx="4191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5F4"/>
                </a:solidFill>
                <a:latin typeface="PingFang SC"/>
                <a:ea typeface="PingFang SC"/>
              </a:rPr>
              <a:t>晚餐</a:t>
            </a:r>
            <a:r>
              <a:rPr lang="en-US" sz="1425" b="1">
                <a:solidFill>
                  <a:srgbClr val="F5F5F4"/>
                </a:solidFill>
                <a:latin typeface="PingFang SC"/>
                <a:ea typeface="PingFang SC"/>
              </a:rPr>
              <a:t> · </a:t>
            </a:r>
            <a:r>
              <a:rPr lang="zh-CN" sz="1425" b="1">
                <a:solidFill>
                  <a:srgbClr val="F5F5F4"/>
                </a:solidFill>
                <a:latin typeface="PingFang SC"/>
                <a:ea typeface="PingFang SC"/>
              </a:rPr>
              <a:t>赞巴直火草原烤肉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200900" y="522922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C9C9C"/>
                </a:solidFill>
                <a:latin typeface="PingFang SC"/>
                <a:ea typeface="PingFang SC"/>
              </a:rPr>
              <a:t>返回酒店后</a:t>
            </a:r>
            <a:r>
              <a:rPr lang="en-US" sz="975">
                <a:solidFill>
                  <a:srgbClr val="9C9C9C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9C9C9C"/>
                </a:solidFill>
                <a:latin typeface="PingFang SC"/>
                <a:ea typeface="PingFang SC"/>
              </a:rPr>
              <a:t>篝火晚宴同场开烤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6048375"/>
            <a:ext cx="10972800" cy="247650"/>
          </a:xfrm>
          <a:custGeom>
            <a:pathLst>
              <a:path w="1152" h="2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9600" y="617220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144250" y="61722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8" name="" descr="&lt;Slide style={{ width: 1280, height: 720, background: '#0A0A0B', flexDirection: 'column', padding: '64px 64px 60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06 — GALLERY&lt;/Text&gt;&#10;  &lt;/Box&gt;&#10;  &lt;Box style={{ flexDirection: 'row', alignItems: 'flex-end', justifyContent: 'space-between', marginTop: 18 }}&gt;&#10;    &lt;Text style={{ fontSize: 34, fontWeight: 'bold', color: '#F5F5F4', fontFamily: &quot;'PingFang SC','Microsoft YaHei',sans-serif&quot; }}&gt;鱼子西观景平台&lt;/Text&gt;&#10;    &lt;Text style={{ fontSize: 13, color: '#9C9C9C', letterSpacing: 2, fontFamily: &quot;'PingFang SC','Microsoft YaHei',sans-serif&quot; }}&gt;离星空最近的摄影天堂&lt;/Text&gt;&#10;  &lt;/Box&gt;&#10;  &lt;Box style={{ flexDirection: 'row', gap: 16, marginTop: 24, flex: 1 }}&gt;&#10;    &lt;Image src=&quot;assets/jinshan_pose.jpg&quot; style={{ width: 280, height: '100%', objectFit: 'cover', borderRadius: 6 }} /&gt;&#10;    &lt;Box style={{ width: 506, flexDirection: 'column', gap: 16 }}&gt;&#10;      &lt;Image src=&quot;assets/yala_range.jpg&quot; style={{ width: 506, height: 200, objectFit: 'cover', borderRadius: 6 }} /&gt;&#10;      &lt;Box style={{ flex: 1, flexDirection: 'column', justifyContent: 'center', gap: 12, padding: '0 8px' }}&gt;&#10;        &lt;Box style={{ width: 40, height: 3, background: '#E9A23B' }} /&gt;&#10;        &lt;Text style={{ fontSize: 15, color: '#C9C9C9', lineHeight: 1.8, fontFamily: &quot;'PingFang SC','Microsoft YaHei',sans-serif&quot; }}&gt;位于四川省甘孜州康定市新都桥镇境内，海拔约 4200 米。可同时眺望贡嘎雪山、雅拉雪山、四姑娘山等神山，日落时分整座雪山被染成金色。&lt;/Text&gt;&#10;      &lt;/Box&gt;&#10;    &lt;/Box&gt;&#10;    &lt;Image src=&quot;assets/valley_village.jpg&quot; style={{ width: 330, height: '100%', objectFit: 'cover', borderRadius: 6 }} /&gt;&#10;  &lt;/Box&gt;&#10;  &lt;Box style={{ flexDirection: 'row', justifyContent: 'space-between', borderTop: '1px solid rgba(255,255,255,0.14)', paddingTop: 12, marginTop: 16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07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450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609600"/>
            <a:ext cx="285750" cy="190500"/>
          </a:xfrm>
          <a:prstGeom prst="rect">
            <a:avLst/>
          </a:prstGeom>
          <a:ln/>
        </p:spPr>
      </p:pic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009650" y="638175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06 — GALLERY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9715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鱼子西观景平台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0153650" y="120967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离星空最近的摄影天堂</a:t>
            </a:r>
            <a:endParaRPr/>
          </a:p>
        </p:txBody>
      </p:sp>
      <p:pic>
        <p:nvPicPr>
          <p:cNvPr id="454" name=""/>
          <p:cNvPicPr>
            <a:picLocks noChangeAspect="1"/>
          </p:cNvPicPr>
          <p:nvPr/>
        </p:nvPicPr>
        <p:blipFill>
          <a:blip r:embed="rId2"/>
          <a:srcRect l="0" t="984" r="0" b="984"/>
          <a:stretch>
            <a:fillRect/>
          </a:stretch>
        </p:blipFill>
        <p:spPr>
          <a:xfrm rot="0" flipH="0" flipV="0">
            <a:off x="609600" y="1590675"/>
            <a:ext cx="2667000" cy="4305300"/>
          </a:xfrm>
          <a:prstGeom prst="roundRect">
            <a:avLst>
              <a:gd name="adj" fmla="val 2143"/>
            </a:avLst>
          </a:prstGeom>
          <a:ln/>
        </p:spPr>
      </p:pic>
      <p:pic>
        <p:nvPicPr>
          <p:cNvPr id="455" name=""/>
          <p:cNvPicPr>
            <a:picLocks noChangeAspect="1"/>
          </p:cNvPicPr>
          <p:nvPr/>
        </p:nvPicPr>
        <p:blipFill>
          <a:blip r:embed="rId3"/>
          <a:srcRect l="278" t="0" r="278" b="0"/>
          <a:stretch>
            <a:fillRect/>
          </a:stretch>
        </p:blipFill>
        <p:spPr>
          <a:xfrm rot="0" flipH="0" flipV="0">
            <a:off x="3429000" y="1590675"/>
            <a:ext cx="4819650" cy="1905000"/>
          </a:xfrm>
          <a:prstGeom prst="roundRect">
            <a:avLst>
              <a:gd name="adj" fmla="val 3000"/>
            </a:avLst>
          </a:prstGeom>
          <a:ln/>
        </p:spPr>
      </p:pic>
      <p:sp>
        <p:nvSpPr>
          <p:cNvPr id="456" name=""/>
          <p:cNvSpPr/>
          <p:nvPr/>
        </p:nvSpPr>
        <p:spPr>
          <a:xfrm rot="0" flipH="0" flipV="0">
            <a:off x="3505200" y="4391025"/>
            <a:ext cx="3810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505200" y="4533900"/>
            <a:ext cx="46672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位于四川省甘孜州康定市新都桥镇境内，海拔约</a:t>
            </a:r>
            <a:r>
              <a:rPr lang="en-US" sz="1125">
                <a:solidFill>
                  <a:srgbClr val="C9C9C9"/>
                </a:solidFill>
                <a:latin typeface="PingFang SC"/>
                <a:ea typeface="PingFang SC"/>
              </a:rPr>
              <a:t> 4200 </a:t>
            </a:r>
            <a:r>
              <a:rPr lang="zh-CN" sz="1125">
                <a:solidFill>
                  <a:srgbClr val="C9C9C9"/>
                </a:solidFill>
                <a:latin typeface="PingFang SC"/>
                <a:ea typeface="PingFang SC"/>
              </a:rPr>
              <a:t>米。可同时眺望贡嘎雪山、雅拉雪山、四姑娘山等神山，日落时分整座雪山被染成金色。</a:t>
            </a:r>
            <a:endParaRPr/>
          </a:p>
        </p:txBody>
      </p:sp>
      <p:pic>
        <p:nvPicPr>
          <p:cNvPr id="458" name=""/>
          <p:cNvPicPr>
            <a:picLocks noChangeAspect="1"/>
          </p:cNvPicPr>
          <p:nvPr/>
        </p:nvPicPr>
        <p:blipFill>
          <a:blip r:embed="rId4"/>
          <a:srcRect l="0" t="1164" r="0" b="1164"/>
          <a:stretch>
            <a:fillRect/>
          </a:stretch>
        </p:blipFill>
        <p:spPr>
          <a:xfrm rot="0" flipH="0" flipV="0">
            <a:off x="8401050" y="1590675"/>
            <a:ext cx="3143250" cy="4305300"/>
          </a:xfrm>
          <a:prstGeom prst="roundRect">
            <a:avLst>
              <a:gd name="adj" fmla="val 1818"/>
            </a:avLst>
          </a:prstGeom>
          <a:ln/>
        </p:spPr>
      </p:pic>
      <p:sp>
        <p:nvSpPr>
          <p:cNvPr id="459" name=""/>
          <p:cNvSpPr/>
          <p:nvPr/>
        </p:nvSpPr>
        <p:spPr>
          <a:xfrm rot="0" flipH="0" flipV="0">
            <a:off x="609600" y="6048375"/>
            <a:ext cx="10972800" cy="247650"/>
          </a:xfrm>
          <a:custGeom>
            <a:pathLst>
              <a:path w="1152" h="2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617220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144250" y="61722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2" name="" descr="&lt;Slide style={{ width: 1280, height: 720, background: '#0A0A0B', flexDirection: 'row', padding: 0 }}&gt;&#10;  &lt;Box style={{ width: 820, height: 720, flexDirection: 'column', gap: 28, padding: '64px 56px 72px 64px' }}&gt;&#10;    &lt;Box style={{ flexDirection: 'row', alignItems: 'center', gap: 12 }}&gt;&#10;      &lt;Image src=&quot;assets/logo_arcteryx_white.png&quot; style={{ width: 30, height: 20 }} /&gt;&#10;      &lt;Text style={{ fontSize: 11, letterSpacing: 4, color: '#9C9C9C', fontFamily: &quot;'Avenir Next','Helvetica Neue',sans-serif&quot; }}&gt;07 — DAY 2 SCHEDULE&lt;/Text&gt;&#10;    &lt;/Box&gt;&#10;    &lt;Text style={{ fontSize: 34, fontWeight: 'bold', color: '#F5F5F4', fontFamily: &quot;'PingFang SC','Microsoft YaHei',sans-serif&quot; }}&gt;Day 2 时间计划&lt;/Text&gt;&#10;    &lt;Box style={{ flexDirection: 'column', gap: 0 }}&gt;&#10;      {[&#10;        ['08:00 - 08:30', '酒店早餐'],&#10;        ['08:30 - 12:00', '国家非遗体验 · 唐卡绘制（酒店内）'],&#10;        ['12:00 - 13:00', '午餐'],&#10;        ['13:00 - 19:00', '驱车返回成都'],&#10;      ].map((item, idx) =&gt; (&#10;        &lt;Box key={idx} style={{ flexDirection: 'row', alignItems: 'center', gap: 20, padding: '26px 0', borderBottom: idx &lt; 3 ? '1px solid rgba(255,255,255,0.1)' : 'none' }}&gt;&#10;          &lt;Text style={{ fontSize: 17, fontWeight: 'bold', color: '#F5F5F4', width: 190, fontFamily: &quot;'Avenir Next','Helvetica Neue',sans-serif&quot; }}&gt;{item[0]}&lt;/Text&gt;&#10;          &lt;Box style={{ width: 6, height: 6, borderRadius: 3, background: '#E9A23B' }} /&gt;&#10;          &lt;Text style={{ fontSize: 16, color: '#C9C9C9', fontFamily: &quot;'PingFang SC','Microsoft YaHei',sans-serif&quot; }}&gt;{item[1]}&lt;/Text&gt;&#10;        &lt;/Box&gt;&#10;      ))}&#10;    &lt;/Box&gt;&#10;    &lt;Box style={{ flexDirection: 'row', gap: 16, marginTop: 6 }}&gt;&#10;      {[&#10;        ['350KM', '返程车程'],&#10;        ['3.5H', '唐卡体验'],&#10;        ['夜宿', '各自温馨的家'],&#10;      ].map((s, idx) =&gt; (&#10;        &lt;Box key={idx} style={{ flex: 1, background: 'rgba(255,255,255,0.06)', borderRadius: 4, padding: '14px 18px', flexDirection: 'column', gap: 4 }}&gt;&#10;          &lt;Text style={{ fontSize: 19, fontWeight: 'bold', color: '#F5F5F4', fontFamily: &quot;'Avenir Next','Helvetica Neue',sans-serif&quot; }}&gt;{s[0]}&lt;/Text&gt;&#10;          &lt;Text style={{ fontSize: 12, color: '#9C9C9C', letterSpacing: 2, fontFamily: &quot;'PingFang SC','Microsoft YaHei',sans-serif&quot; }}&gt;{s[1]}&lt;/Text&gt;&#10;        &lt;/Box&gt;&#10;      ))}&#10;    &lt;/Box&gt;&#10;    &lt;Box style={{ flexDirection: 'column', gap: 8, background: 'rgba(255,255,255,0.06)', padding: 18, borderRadius: 4, marginTop: 6 }}&gt;&#10;      &lt;Text style={{ fontSize: 12, letterSpacing: 3, color: '#E9A23B', fontFamily: &quot;'PingFang SC','Microsoft YaHei',sans-serif&quot; }}&gt;温馨提示&lt;/Text&gt;&#10;      &lt;Text style={{ fontSize: 13, color: '#9C9C9C', lineHeight: 1.7, fontFamily: &quot;'PingFang SC','Microsoft YaHei',sans-serif&quot; }}&gt;活动流程时间仅供参考，具体以当天实际情况为准。&lt;/Text&gt;&#10;    &lt;/Box&gt;&#10;  &lt;/Box&gt;&#10;  &lt;Image src=&quot;assets/hotel_girl.png&quot; style={{ width: 460, height: 720, objectFit: 'cover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464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609600"/>
            <a:ext cx="285750" cy="190500"/>
          </a:xfrm>
          <a:prstGeom prst="rect">
            <a:avLst/>
          </a:prstGeom>
          <a:ln/>
        </p:spPr>
      </p:pic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009650" y="638175"/>
            <a:ext cx="1838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07 — DAY 2 SCHEDULE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6667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5F5F4"/>
                </a:solidFill>
                <a:latin typeface="PingFang SC"/>
                <a:ea typeface="PingFang SC"/>
              </a:rPr>
              <a:t>Day 2 </a:t>
            </a: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时间计划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1724025"/>
            <a:ext cx="6667500" cy="714375"/>
          </a:xfrm>
          <a:custGeom>
            <a:pathLst>
              <a:path w="700" h="75">
                <a:moveTo>
                  <a:pt x="0" y="74"/>
                </a:moveTo>
                <a:lnTo>
                  <a:pt x="700" y="74"/>
                </a:lnTo>
                <a:lnTo>
                  <a:pt x="700" y="75"/>
                </a:lnTo>
                <a:lnTo>
                  <a:pt x="0" y="75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5F5F4"/>
                </a:solidFill>
                <a:latin typeface="Avenir Next"/>
                <a:ea typeface="Avenir Next"/>
              </a:rPr>
              <a:t>08:00 - 08:30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2609850" y="2047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2857500" y="1981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C9C9"/>
                </a:solidFill>
                <a:latin typeface="PingFang SC"/>
                <a:ea typeface="PingFang SC"/>
              </a:rPr>
              <a:t>酒店早餐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2428875"/>
            <a:ext cx="6667500" cy="714375"/>
          </a:xfrm>
          <a:custGeom>
            <a:pathLst>
              <a:path w="700" h="75">
                <a:moveTo>
                  <a:pt x="0" y="74"/>
                </a:moveTo>
                <a:lnTo>
                  <a:pt x="700" y="74"/>
                </a:lnTo>
                <a:lnTo>
                  <a:pt x="700" y="75"/>
                </a:lnTo>
                <a:lnTo>
                  <a:pt x="0" y="75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5F5F4"/>
                </a:solidFill>
                <a:latin typeface="Avenir Next"/>
                <a:ea typeface="Avenir Next"/>
              </a:rPr>
              <a:t>08:30 - 12:00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2609850" y="27527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2857500" y="2686050"/>
            <a:ext cx="2466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C9C9"/>
                </a:solidFill>
                <a:latin typeface="PingFang SC"/>
                <a:ea typeface="PingFang SC"/>
              </a:rPr>
              <a:t>国家非遗体验</a:t>
            </a:r>
            <a:r>
              <a:rPr lang="en-US" sz="1200">
                <a:solidFill>
                  <a:srgbClr val="C9C9C9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C9C9C9"/>
                </a:solidFill>
                <a:latin typeface="PingFang SC"/>
                <a:ea typeface="PingFang SC"/>
              </a:rPr>
              <a:t>唐卡绘制（酒店内）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609600" y="3133725"/>
            <a:ext cx="6667500" cy="714375"/>
          </a:xfrm>
          <a:custGeom>
            <a:pathLst>
              <a:path w="700" h="75">
                <a:moveTo>
                  <a:pt x="0" y="74"/>
                </a:moveTo>
                <a:lnTo>
                  <a:pt x="700" y="74"/>
                </a:lnTo>
                <a:lnTo>
                  <a:pt x="700" y="75"/>
                </a:lnTo>
                <a:lnTo>
                  <a:pt x="0" y="75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33813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5F5F4"/>
                </a:solidFill>
                <a:latin typeface="Avenir Next"/>
                <a:ea typeface="Avenir Next"/>
              </a:rPr>
              <a:t>12:00 - 13:00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2609850" y="3457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2857500" y="33909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C9C9"/>
                </a:solidFill>
                <a:latin typeface="PingFang SC"/>
                <a:ea typeface="PingFang SC"/>
              </a:rPr>
              <a:t>午餐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408622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5F5F4"/>
                </a:solidFill>
                <a:latin typeface="Avenir Next"/>
                <a:ea typeface="Avenir Next"/>
              </a:rPr>
              <a:t>13:00 - 19:00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2609850" y="4162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2857500" y="40957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C9C9"/>
                </a:solidFill>
                <a:latin typeface="PingFang SC"/>
                <a:ea typeface="PingFang SC"/>
              </a:rPr>
              <a:t>驱车返回成都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4857750"/>
            <a:ext cx="2124075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81050" y="4991100"/>
            <a:ext cx="1781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F5F4"/>
                </a:solidFill>
                <a:latin typeface="Avenir Next"/>
                <a:ea typeface="Avenir Next"/>
              </a:rPr>
              <a:t>350KM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81050" y="5248275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返程车程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2886075" y="4857750"/>
            <a:ext cx="2114550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057525" y="4991100"/>
            <a:ext cx="1771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F5F4"/>
                </a:solidFill>
                <a:latin typeface="Avenir Next"/>
                <a:ea typeface="Avenir Next"/>
              </a:rPr>
              <a:t>3.5H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3057525" y="5248275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唐卡体验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5153025" y="4857750"/>
            <a:ext cx="2124075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5324475" y="4991100"/>
            <a:ext cx="1781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5F4"/>
                </a:solidFill>
                <a:latin typeface="Avenir Next"/>
                <a:ea typeface="Avenir Next"/>
              </a:rPr>
              <a:t>夜宿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324475" y="5248275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各自温馨的家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09600" y="5848350"/>
            <a:ext cx="6667500" cy="819150"/>
          </a:xfrm>
          <a:prstGeom prst="roundRect">
            <a:avLst>
              <a:gd name="adj" fmla="val 4651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781050" y="6019800"/>
            <a:ext cx="6324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E9A23B"/>
                </a:solidFill>
                <a:latin typeface="PingFang SC"/>
                <a:ea typeface="PingFang SC"/>
              </a:rPr>
              <a:t>温馨提示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81050" y="6238875"/>
            <a:ext cx="63246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C9C9C"/>
                </a:solidFill>
                <a:latin typeface="PingFang SC"/>
                <a:ea typeface="PingFang SC"/>
              </a:rPr>
              <a:t>活动流程时间仅供参考，具体以当天实际情况为准。</a:t>
            </a:r>
            <a:endParaRPr/>
          </a:p>
        </p:txBody>
      </p:sp>
      <p:pic>
        <p:nvPicPr>
          <p:cNvPr id="494" name=""/>
          <p:cNvPicPr>
            <a:picLocks noChangeAspect="1"/>
          </p:cNvPicPr>
          <p:nvPr/>
        </p:nvPicPr>
        <p:blipFill>
          <a:blip r:embed="rId2"/>
          <a:srcRect l="7271" t="0" r="7271" b="0"/>
          <a:stretch>
            <a:fillRect/>
          </a:stretch>
        </p:blipFill>
        <p:spPr>
          <a:xfrm rot="0" flipH="0" flipV="0">
            <a:off x="7810500" y="0"/>
            <a:ext cx="43815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5" name="" descr="&lt;Slide style={{ width: 1280, height: 720, background: '#0A0A0B', flexDirection: 'row', padding: 0 }}&gt;&#10;  &lt;Image src=&quot;assets/tangka_painting.jpg&quot; style={{ width: 470, height: 720, objectFit: 'cover' }} /&gt;&#10;  &lt;Box style={{ flex: 1, height: 720, flexDirection: 'column', justifyContent: 'space-between', padding: '64px 56px 72px 52px' }}&gt;&#10;    &lt;Box style={{ flexDirection: 'row', alignItems: 'center', gap: 12 }}&gt;&#10;      &lt;Image src=&quot;assets/logo_arcteryx_white.png&quot; style={{ width: 30, height: 20 }} /&gt;&#10;      &lt;Text style={{ fontSize: 11, letterSpacing: 4, color: '#9C9C9C', fontFamily: &quot;'Avenir Next','Helvetica Neue',sans-serif&quot; }}&gt;08 — HERITAGE&lt;/Text&gt;&#10;    &lt;/Box&gt;&#10;    &lt;Box style={{ flexDirection: 'column', gap: 22 }}&gt;&#10;      &lt;Box style={{ flexDirection: 'row', alignItems: 'center', gap: 12 }}&gt;&#10;        &lt;Box style={{ width: 40, height: 3, background: '#E9A23B' }} /&gt;&#10;        &lt;Text style={{ fontSize: 13, color: '#E9A23B', letterSpacing: 3, fontFamily: &quot;'PingFang SC','Microsoft YaHei',sans-serif&quot; }}&gt;国家非物质文化遗产&lt;/Text&gt;&#10;      &lt;/Box&gt;&#10;      &lt;Text style={{ fontSize: 38, fontWeight: 'bold', color: '#F5F5F4', lineHeight: 1.3, fontFamily: &quot;'PingFang SC','Microsoft YaHei',sans-serif&quot; }}&gt;唐卡绘制&lt;/Text&gt;&#10;      &lt;Text style={{ fontSize: 15, color: '#9C9C9C', lineHeight: 1.9, fontFamily: &quot;'PingFang SC','Microsoft YaHei',sans-serif&quot; }}&gt;唐卡是藏地卷轴宗教绘画。绘制不只是画画，更是修行——必须严格遵从《佛说造像度量经》，造像比例不能随意改动。传统画师动笔前要择吉日、净身、诵经。&lt;/Text&gt;&#10;      &lt;Text style={{ fontSize: 15, color: '#9C9C9C', lineHeight: 1.9, fontFamily: &quot;'PingFang SC','Microsoft YaHei',sans-serif&quot; }}&gt;简单的小唐卡需绘制数十天，大型复杂唐卡耗时数月甚至数年。在手老师的指导下，完成一页属于自己的唐卡。&lt;/Text&gt;&#10;      &lt;Box style={{ flexDirection: 'row', gap: 40, borderTop: '1px solid rgba(255,255,255,0.14)', paddingTop: 20 }}&gt;&#10;        &lt;Box style={{ flexDirection: 'column', gap: 4 }}&gt;&#10;          &lt;Text style={{ fontSize: 26, fontWeight: 'bold', color: '#F5F5F4', fontFamily: &quot;'Avenir Next','Helvetica Neue',sans-serif&quot; }}&gt;3.5&lt;span style={{ fontSize: 13 }}&gt; H&lt;/span&gt;&lt;/Text&gt;&#10;          &lt;Text style={{ fontSize: 12, color: '#9C9C9C', letterSpacing: 2, fontFamily: &quot;'PingFang SC','Microsoft YaHei',sans-serif&quot; }}&gt;体验时长&lt;/Text&gt;&#10;        &lt;/Box&gt;&#10;        &lt;Box style={{ flexDirection: 'column', gap: 4 }}&gt;&#10;          &lt;Text style={{ fontSize: 26, fontWeight: 'bold', color: '#F5F5F4', fontFamily: &quot;'Avenir Next','Helvetica Neue',sans-serif&quot; }}&gt;1&lt;span style={{ fontSize: 13 }}&gt; 幅&lt;/span&gt;&lt;/Text&gt;&#10;          &lt;Text style={{ fontSize: 12, color: '#9C9C9C', letterSpacing: 2, fontFamily: &quot;'PingFang SC','Microsoft YaHei',sans-serif&quot; }}&gt;亲手完成带走&lt;/Text&gt;&#10;        &lt;/Box&gt;&#10;        &lt;Box style={{ flexDirection: 'column', gap: 4 }}&gt;&#10;          &lt;Text style={{ fontSize: 26, fontWeight: 'bold', color: '#F5F5F4', fontFamily: &quot;'Avenir Next','Helvetica Neue',sans-serif&quot; }}&gt;国家级&lt;/Text&gt;&#10;          &lt;Text style={{ fontSize: 12, color: '#9C9C9C', letterSpacing: 2, fontFamily: &quot;'PingFang SC','Microsoft YaHei',sans-serif&quot; }}&gt;非遗名录&lt;/Text&gt;&#10;        &lt;/Box&gt;&#10;      &lt;/Box&gt;&#10;    &lt;/Box&gt;&#10;    &lt;Box style={{ flexDirection: 'row', justifyContent: 'space-between', alignItems: 'flex-end' }}&gt;&#10;      &lt;Text style={{ fontSize: 10, letterSpacing: 3, color: '#9C9C9C', fontFamily: &quot;'Avenir Next','Helvetica Neue',sans-serif&quot; }}&gt;ARC'TERYX × 远拓户外&lt;/Text&gt;&#10;      &lt;Text style={{ fontSize: 10, letterSpacing: 2, color: '#9C9C9C', fontFamily: &quot;'Avenir Next','Helvetica Neue',sans-serif&quot; }}&gt;09 / 16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497" name=""/>
          <p:cNvPicPr>
            <a:picLocks noChangeAspect="1"/>
          </p:cNvPicPr>
          <p:nvPr/>
        </p:nvPicPr>
        <p:blipFill>
          <a:blip r:embed="rId1"/>
          <a:srcRect l="3202" t="0" r="3202" b="0"/>
          <a:stretch>
            <a:fillRect/>
          </a:stretch>
        </p:blipFill>
        <p:spPr>
          <a:xfrm rot="0" flipH="0" flipV="0">
            <a:off x="0" y="0"/>
            <a:ext cx="4476750" cy="6858000"/>
          </a:xfrm>
          <a:prstGeom prst="rect">
            <a:avLst/>
          </a:prstGeom>
          <a:ln/>
        </p:spPr>
      </p:pic>
      <p:pic>
        <p:nvPicPr>
          <p:cNvPr id="498" name=""/>
          <p:cNvPicPr>
            <a:picLocks noChangeAspect="1"/>
          </p:cNvPicPr>
          <p:nvPr/>
        </p:nvPicPr>
        <p:blipFill>
          <a:blip r:embed="rId2"/>
          <a:srcRect l="0" t="784" r="0" b="784"/>
          <a:stretch>
            <a:fillRect/>
          </a:stretch>
        </p:blipFill>
        <p:spPr>
          <a:xfrm rot="0" flipH="0" flipV="0">
            <a:off x="4972050" y="609600"/>
            <a:ext cx="285750" cy="190500"/>
          </a:xfrm>
          <a:prstGeom prst="rect">
            <a:avLst/>
          </a:prstGeom>
          <a:ln/>
        </p:spPr>
      </p:pic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372100" y="638175"/>
            <a:ext cx="1238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08 — HERITAGE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4972050" y="1714500"/>
            <a:ext cx="3810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467350" y="164782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9A23B"/>
                </a:solidFill>
                <a:latin typeface="PingFang SC"/>
                <a:ea typeface="PingFang SC"/>
              </a:rPr>
              <a:t>国家非物质文化遗产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4972050" y="2009775"/>
            <a:ext cx="668655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5F5F4"/>
                </a:solidFill>
                <a:latin typeface="PingFang SC"/>
                <a:ea typeface="PingFang SC"/>
              </a:rPr>
              <a:t>唐卡绘制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4972050" y="2790825"/>
            <a:ext cx="66865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125">
                <a:solidFill>
                  <a:srgbClr val="9C9C9C"/>
                </a:solidFill>
                <a:latin typeface="PingFang SC"/>
                <a:ea typeface="PingFang SC"/>
              </a:rPr>
              <a:t>唐卡是藏地卷轴宗教绘画。绘制不只是画画，更是修行——必须严格遵从《佛说造像度量经》，造像比例不能随意改动。传统画师动笔前要择吉日、净身、诵经。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4972050" y="3657600"/>
            <a:ext cx="66865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125">
                <a:solidFill>
                  <a:srgbClr val="9C9C9C"/>
                </a:solidFill>
                <a:latin typeface="PingFang SC"/>
                <a:ea typeface="PingFang SC"/>
              </a:rPr>
              <a:t>简单的小唐卡需绘制数十天，大型复杂唐卡耗时数月甚至数年。在手老师的指导下，完成一页属于自己的唐卡。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4972050" y="4524375"/>
            <a:ext cx="6686550" cy="695325"/>
          </a:xfrm>
          <a:custGeom>
            <a:pathLst>
              <a:path w="702" h="73">
                <a:moveTo>
                  <a:pt x="0" y="0"/>
                </a:moveTo>
                <a:lnTo>
                  <a:pt x="702" y="0"/>
                </a:lnTo>
                <a:lnTo>
                  <a:pt x="70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972050" y="4724400"/>
            <a:ext cx="533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5F5F4"/>
                </a:solidFill>
                <a:latin typeface="Avenir Next"/>
                <a:ea typeface="Avenir Next"/>
              </a:rPr>
              <a:t>3.5</a:t>
            </a:r>
            <a:r>
              <a:rPr lang="en-US" sz="975" b="1">
                <a:solidFill>
                  <a:srgbClr val="F5F5F4"/>
                </a:solidFill>
                <a:latin typeface="Avenir Next"/>
                <a:ea typeface="Avenir Next"/>
              </a:rPr>
              <a:t> H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4972050" y="5067300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体验时长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886450" y="4724400"/>
            <a:ext cx="800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5F5F4"/>
                </a:solidFill>
                <a:latin typeface="Avenir Next"/>
                <a:ea typeface="Avenir Next"/>
              </a:rPr>
              <a:t>1</a:t>
            </a:r>
            <a:r>
              <a:rPr lang="en-US" sz="975" b="1">
                <a:solidFill>
                  <a:srgbClr val="F5F5F4"/>
                </a:solidFill>
                <a:latin typeface="Avenir Next"/>
                <a:ea typeface="Avenir Next"/>
              </a:rPr>
              <a:t> </a:t>
            </a:r>
            <a:r>
              <a:rPr lang="zh-CN" sz="975" b="1">
                <a:solidFill>
                  <a:srgbClr val="F5F5F4"/>
                </a:solidFill>
                <a:latin typeface="Avenir Next"/>
                <a:ea typeface="Avenir Next"/>
              </a:rPr>
              <a:t>幅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886450" y="50673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亲手完成带走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067550" y="4724400"/>
            <a:ext cx="742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5F5F4"/>
                </a:solidFill>
                <a:latin typeface="Avenir Next"/>
                <a:ea typeface="Avenir Next"/>
              </a:rPr>
              <a:t>国家级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067550" y="50673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9C9C9C"/>
                </a:solidFill>
                <a:latin typeface="PingFang SC"/>
                <a:ea typeface="PingFang SC"/>
              </a:rPr>
              <a:t>非遗名录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4972050" y="605790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1220450" y="60579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 descr="&lt;Slide style={{ width: 1280, height: 720, background: '#0A0A0B', flexDirection: 'column', padding: '58px 64px 34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09 — TIBETAN CRAFT&lt;/Text&gt;&#10;  &lt;/Box&gt;&#10;  &lt;Box style={{ flexDirection: 'row', alignItems: 'flex-end', justifyContent: 'space-between', marginTop: 16 }}&gt;&#10;    &lt;Text style={{ fontSize: 34, fontWeight: 'bold', color: '#F5F5F4', fontFamily: &quot;'PingFang SC','Microsoft YaHei',sans-serif&quot; }}&gt;藏式手作&lt;/Text&gt;&#10;    &lt;Text style={{ fontSize: 13, color: '#9C9C9C', letterSpacing: 2, fontFamily: &quot;'PingFang SC','Microsoft YaHei',sans-serif&quot; }}&gt;酥油茶 · 手工糌粑&lt;/Text&gt;&#10;  &lt;/Box&gt;&#10;  &lt;Box style={{ flexDirection: 'row', gap: 24, marginTop: 22, flex: 1 }}&gt;&#10;    &lt;Box style={{ flex: 1, flexDirection: 'column', gap: 16 }}&gt;&#10;      &lt;Image src=&quot;assets/tea_pour.png&quot; style={{ width: '100%', height: 230, objectFit: 'cover', borderRadius: 6 }} /&gt;&#10;      &lt;Box style={{ flexDirection: 'column', gap: 10, flex: 1 }}&gt;&#10;        &lt;Box style={{ flexDirection: 'row', alignItems: 'center', gap: 10 }}&gt;&#10;          &lt;Box style={{ width: 28, height: 3, background: '#E9A23B' }} /&gt;&#10;          &lt;Text style={{ fontSize: 19, fontWeight: 'bold', color: '#F5F5F4', fontFamily: &quot;'PingFang SC','Microsoft YaHei',sans-serif&quot; }}&gt;酥油茶&lt;/Text&gt;&#10;        &lt;/Box&gt;&#10;        &lt;Text style={{ fontSize: 13.5, color: '#C9C9C9', lineHeight: 1.85, fontFamily: &quot;'PingFang SC','Microsoft YaHei',sans-serif&quot; }}&gt;高原特色茶饮，源自茶马古道文化。原料以牦牛酥油、砖茶、盐为主，也可做成甜口。传统做法将砖茶熬煮成浓茶汤，连同酥油、盐倒入酥油木桶，用木杆反复上下抽打，让酥油与茶水充分乳化融合。&lt;/Text&gt;&#10;        &lt;Text style={{ fontSize: 13.5, color: '#9C9C9C', lineHeight: 1.85, fontFamily: &quot;'PingFang SC','Microsoft YaHei',sans-serif&quot; }}&gt;口感香浓醇厚，可驱寒、解肉腻、补充体力，是待客与节庆中表达敬意的饮品。&lt;/Text&gt;&#10;      &lt;/Box&gt;&#10;    &lt;/Box&gt;&#10;    &lt;Box style={{ flex: 1, flexDirection: 'column', gap: 16 }}&gt;&#10;      &lt;Box style={{ flexDirection: 'row', gap: 16 }}&gt;&#10;        &lt;Image src=&quot;assets/tsampa_make.png&quot; style={{ width: '50%', height: 230, objectFit: 'cover', borderRadius: 6 }} /&gt;&#10;        &lt;Image src=&quot;assets/tsampa_hands.png&quot; style={{ width: '50%', height: 230, objectFit: 'cover', borderRadius: 6 }} /&gt;&#10;      &lt;/Box&gt;&#10;      &lt;Box style={{ flexDirection: 'column', gap: 10, flex: 1 }}&gt;&#10;        &lt;Box style={{ flexDirection: 'row', alignItems: 'center', gap: 10 }}&gt;&#10;          &lt;Box style={{ width: 28, height: 3, background: '#E9A23B' }} /&gt;&#10;          &lt;Text style={{ fontSize: 19, fontWeight: 'bold', color: '#F5F5F4', fontFamily: &quot;'PingFang SC','Microsoft YaHei',sans-serif&quot; }}&gt;手工糌粑&lt;/Text&gt;&#10;        &lt;/Box&gt;&#10;        &lt;Text style={{ fontSize: 13.5, color: '#C9C9C9', lineHeight: 1.85, fontFamily: &quot;'PingFang SC','Microsoft YaHei',sans-serif&quot; }}&gt;「糌粑」是藏语，意为青稞炒面，是藏族一日三餐的主食。工艺讲究先炒后磨：青稞洗净、小火炒熟散发麦香，冷却后用石磨研磨成粗粉，保留麸皮，无需再次加热。&lt;/Text&gt;&#10;        &lt;Text style={{ fontSize: 13.5, color: '#9C9C9C', lineHeight: 1.85, fontFamily: &quot;'PingFang SC','Microsoft YaHei',sans-serif&quot; }}&gt;食用时取糌粑粉放入木碗，加入酥油、奶渣，冲入温热酥油茶，旋转木碗搅拌揉捏成团。携带方便、耐储存，是牧民的随身干粮。&lt;/Text&gt;&#10;      &lt;/Box&gt;&#10;    &lt;/Box&gt;&#10;  &lt;/Box&gt;&#10;  &lt;Box style={{ flexDirection: 'row', gap: 14, marginTop: 16 }}&gt;&#10;    {[['木桶抽打', '酥油与茶汤乳化融合'], ['先炒后磨', '青稞炒香，石磨成粉'], ['现场品尝', '热酥油茶配手作糌粑']].map((s, i) =&gt; (&#10;      &lt;Box key={i} style={{ flex: 1, background: 'rgba(255,255,255,0.06)', borderRadius: 4, padding: '12px 16px', flexDirection: 'row', alignItems: 'center', gap: 12 }}&gt;&#10;        &lt;Box style={{ width: 3, height: 26, background: '#E9A23B' }} /&gt;&#10;        &lt;Box style={{ flexDirection: 'column', gap: 3 }}&gt;&#10;          &lt;Text style={{ fontSize: 14, fontWeight: 'bold', color: '#F5F5F4', fontFamily: &quot;'PingFang SC','Microsoft YaHei',sans-serif&quot; }}&gt;{s[0]}&lt;/Text&gt;&#10;          &lt;Text style={{ fontSize: 11, color: '#9C9C9C', fontFamily: &quot;'PingFang SC','Microsoft YaHei',sans-serif&quot; }}&gt;{s[1]}&lt;/Text&gt;&#10;        &lt;/Box&gt;&#10;      &lt;/Box&gt;&#10;    ))}&#10;  &lt;/Box&gt;&#10;  &lt;Box style={{ flexDirection: 'row', justifyContent: 'space-between', borderTop: '1px solid rgba(255,255,255,0.14)', paddingTop: 10, marginTop: 14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10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16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552450"/>
            <a:ext cx="285750" cy="190500"/>
          </a:xfrm>
          <a:prstGeom prst="rect">
            <a:avLst/>
          </a:prstGeom>
          <a:ln/>
        </p:spPr>
      </p:pic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09650" y="581025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09 — TIBETAN CRAFT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藏式手作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72725" y="1133475"/>
            <a:ext cx="1209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酥油茶</a:t>
            </a:r>
            <a:r>
              <a:rPr lang="en-US" sz="975" spc="150">
                <a:solidFill>
                  <a:srgbClr val="9C9C9C"/>
                </a:solidFill>
                <a:latin typeface="PingFang SC"/>
                <a:ea typeface="PingFang SC"/>
              </a:rPr>
              <a:t> · </a:t>
            </a: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手工糌粑</a:t>
            </a:r>
            <a:endParaRPr/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Id2"/>
          <a:srcRect l="0" t="25537" r="0" b="25537"/>
          <a:stretch>
            <a:fillRect/>
          </a:stretch>
        </p:blipFill>
        <p:spPr>
          <a:xfrm rot="0" flipH="0" flipV="0">
            <a:off x="609600" y="1495425"/>
            <a:ext cx="5372100" cy="2190750"/>
          </a:xfrm>
          <a:prstGeom prst="roundRect">
            <a:avLst>
              <a:gd name="adj" fmla="val 2609"/>
            </a:avLst>
          </a:prstGeom>
          <a:ln/>
        </p:spPr>
      </p:pic>
      <p:sp>
        <p:nvSpPr>
          <p:cNvPr id="21" name=""/>
          <p:cNvSpPr/>
          <p:nvPr/>
        </p:nvSpPr>
        <p:spPr>
          <a:xfrm rot="0" flipH="0" flipV="0">
            <a:off x="609600" y="3933825"/>
            <a:ext cx="2667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71550" y="383857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5F4"/>
                </a:solidFill>
                <a:latin typeface="PingFang SC"/>
                <a:ea typeface="PingFang SC"/>
              </a:rPr>
              <a:t>酥油茶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4152900"/>
            <a:ext cx="5372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高原特色茶饮，源自茶马古道文化。原料以牦牛酥油、砖茶、盐为主，也可做成甜口。传统做法将砖茶熬煮成浓茶汤，连同酥油、盐倒入酥油木桶，用木杆反复上下抽打，让酥油与茶水充分乳化融合。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5372100" cy="2857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13">
                <a:solidFill>
                  <a:srgbClr val="9C9C9C"/>
                </a:solidFill>
                <a:latin typeface="PingFang SC"/>
                <a:ea typeface="PingFang SC"/>
              </a:rPr>
              <a:t>口感香浓醇厚，可驱寒、解肉腻、补充体力，是待客与节庆中表达敬意的饮品。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 r:embed="rId3"/>
          <a:srcRect l="10509" t="0" r="10509" b="0"/>
          <a:stretch>
            <a:fillRect/>
          </a:stretch>
        </p:blipFill>
        <p:spPr>
          <a:xfrm rot="0" flipH="0" flipV="0">
            <a:off x="6210300" y="1495425"/>
            <a:ext cx="2609850" cy="2190750"/>
          </a:xfrm>
          <a:prstGeom prst="roundRect">
            <a:avLst>
              <a:gd name="adj" fmla="val 2609"/>
            </a:avLst>
          </a:prstGeom>
          <a:ln/>
        </p:spPr>
      </p:pic>
      <p:pic>
        <p:nvPicPr>
          <p:cNvPr id="26" name=""/>
          <p:cNvPicPr>
            <a:picLocks noChangeAspect="1"/>
          </p:cNvPicPr>
          <p:nvPr/>
        </p:nvPicPr>
        <p:blipFill>
          <a:blip r:embed="rId4"/>
          <a:srcRect l="9913" t="0" r="9913" b="0"/>
          <a:stretch>
            <a:fillRect/>
          </a:stretch>
        </p:blipFill>
        <p:spPr>
          <a:xfrm rot="0" flipH="0" flipV="0">
            <a:off x="8972550" y="1495425"/>
            <a:ext cx="2609850" cy="2190750"/>
          </a:xfrm>
          <a:prstGeom prst="roundRect">
            <a:avLst>
              <a:gd name="adj" fmla="val 2609"/>
            </a:avLst>
          </a:prstGeom>
          <a:ln/>
        </p:spPr>
      </p:pic>
      <p:sp>
        <p:nvSpPr>
          <p:cNvPr id="27" name=""/>
          <p:cNvSpPr/>
          <p:nvPr/>
        </p:nvSpPr>
        <p:spPr>
          <a:xfrm rot="0" flipH="0" flipV="0">
            <a:off x="6210300" y="3933825"/>
            <a:ext cx="2667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572250" y="38385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5F4"/>
                </a:solidFill>
                <a:latin typeface="PingFang SC"/>
                <a:ea typeface="PingFang SC"/>
              </a:rPr>
              <a:t>手工糌粑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210300" y="4152900"/>
            <a:ext cx="5372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「糌粑」是藏语，意为青稞炒面，是藏族一日三餐的主食。工艺讲究先炒后磨：青稞洗净、小火炒熟散发麦香，冷却后用石磨研磨成粗粉，保留麸皮，无需再次加热。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210300" y="4819650"/>
            <a:ext cx="5372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13">
                <a:solidFill>
                  <a:srgbClr val="9C9C9C"/>
                </a:solidFill>
                <a:latin typeface="PingFang SC"/>
                <a:ea typeface="PingFang SC"/>
              </a:rPr>
              <a:t>食用时取糌粑粉放入木碗，加入酥油、奶渣，冲入温热酥油茶，旋转木碗搅拌揉捏成团。携带方便、耐储存，是牧民的随身干粮。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5629275"/>
            <a:ext cx="35718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762000" y="5781675"/>
            <a:ext cx="28575" cy="24765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04875" y="574357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4"/>
                </a:solidFill>
                <a:latin typeface="PingFang SC"/>
                <a:ea typeface="PingFang SC"/>
              </a:rPr>
              <a:t>木桶抽打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04875" y="5934075"/>
            <a:ext cx="942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酥油与茶汤乳化融合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314825" y="5629275"/>
            <a:ext cx="3562350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4467225" y="5781675"/>
            <a:ext cx="28575" cy="24765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610100" y="574357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4"/>
                </a:solidFill>
                <a:latin typeface="PingFang SC"/>
                <a:ea typeface="PingFang SC"/>
              </a:rPr>
              <a:t>先炒后磨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610100" y="5934075"/>
            <a:ext cx="942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青稞炒香，石磨成粉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010525" y="5629275"/>
            <a:ext cx="35718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162925" y="5781675"/>
            <a:ext cx="28575" cy="24765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05800" y="574357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4"/>
                </a:solidFill>
                <a:latin typeface="PingFang SC"/>
                <a:ea typeface="PingFang SC"/>
              </a:rPr>
              <a:t>现场品尝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305800" y="5934075"/>
            <a:ext cx="942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热酥油茶配手作糌粑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6315075"/>
            <a:ext cx="10972800" cy="228600"/>
          </a:xfrm>
          <a:custGeom>
            <a:pathLst>
              <a:path w="1152" h="24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 descr="&lt;Slide style={{ width: 1280, height: 720, background: '#0A0A0B', flexDirection: 'column', padding: '58px 64px 34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10 — DRESS UP&lt;/Text&gt;&#10;  &lt;/Box&gt;&#10;  &lt;Box style={{ flexDirection: 'row', alignItems: 'flex-end', justifyContent: 'space-between', marginTop: 16 }}&gt;&#10;    &lt;Text style={{ fontSize: 34, fontWeight: 'bold', color: '#F5F5F4', fontFamily: &quot;'PingFang SC','Microsoft YaHei',sans-serif&quot; }}&gt;藏服换装打卡&lt;/Text&gt;&#10;    &lt;Text style={{ fontSize: 13, color: '#9C9C9C', letterSpacing: 2, fontFamily: &quot;'PingFang SC','Microsoft YaHei',sans-serif&quot; }}&gt;换上藏装 · 与雪山同框&lt;/Text&gt;&#10;  &lt;/Box&gt;&#10;  &lt;Box style={{ flexDirection: 'row', gap: 16, marginTop: 22, flex: 1 }}&gt;&#10;    &lt;Image src=&quot;assets/tibetan_dress_field.png&quot; style={{ width: 330, height: '100%', objectFit: 'cover', borderRadius: 6 }} /&gt;&#10;    &lt;Box style={{ width: 460, flexDirection: 'column', gap: 16 }}&gt;&#10;      &lt;Image src=&quot;assets/tibetan_dress_building.png&quot; style={{ width: 460, height: 306, objectFit: 'cover', borderRadius: 6 }} /&gt;&#10;      &lt;Box style={{ flex: 1, flexDirection: 'column', justifyContent: 'center', gap: 12 }}&gt;&#10;        &lt;Box style={{ width: 28, height: 3, background: '#E9A23B' }} /&gt;&#10;        &lt;Text style={{ fontSize: 13.5, color: '#C9C9C9', lineHeight: 1.85, fontFamily: &quot;'PingFang SC','Microsoft YaHei',sans-serif&quot; }}&gt;在赞巴明镜酒店换上康巴藏装，白墙木窗、草原村落、雪山经幡，随手一拍都是高原大片。&lt;/Text&gt;&#10;        &lt;Box style={{ flexDirection: 'row', gap: 28 }}&gt;&#10;          &lt;Box style={{ flexDirection: 'column', gap: 4 }}&gt;&#10;            &lt;Text style={{ fontSize: 22, fontWeight: 'bold', color: '#F5F5F4', fontFamily: &quot;'Avenir Next','Helvetica Neue',sans-serif&quot; }}&gt;康巴藏装&lt;/Text&gt;&#10;            &lt;Text style={{ fontSize: 11.5, color: '#9C9C9C', letterSpacing: 2, fontFamily: &quot;'PingFang SC','Microsoft YaHei',sans-serif&quot; }}&gt;款式选择&lt;/Text&gt;&#10;          &lt;/Box&gt;&#10;          &lt;Box style={{ flexDirection: 'column', gap: 4 }}&gt;&#10;            &lt;Text style={{ fontSize: 22, fontWeight: 'bold', color: '#F5F5F4', fontFamily: &quot;'Avenir Next','Helvetica Neue',sans-serif&quot; }}&gt;不限时&lt;/Text&gt;&#10;            &lt;Text style={{ fontSize: 11.5, color: '#9C9C9C', letterSpacing: 2, fontFamily: &quot;'PingFang SC','Microsoft YaHei',sans-serif&quot; }}&gt;自由拍摄&lt;/Text&gt;&#10;          &lt;/Box&gt;&#10;        &lt;/Box&gt;&#10;      &lt;/Box&gt;&#10;    &lt;/Box&gt;&#10;    &lt;Image src=&quot;assets/tibetan_dress_window.png&quot; style={{ width: 318, height: '100%', objectFit: 'cover', borderRadius: 6 }} /&gt;&#10;  &lt;/Box&gt;&#10;  &lt;Box style={{ flexDirection: 'row', justifyContent: 'space-between', borderTop: '1px solid rgba(255,255,255,0.14)', paddingTop: 10, marginTop: 14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11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552450"/>
            <a:ext cx="285750" cy="19050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09650" y="5810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10 — DRESS UP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藏服换装打卡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086975" y="1133475"/>
            <a:ext cx="149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换上藏装</a:t>
            </a:r>
            <a:r>
              <a:rPr lang="en-US" sz="975" spc="150">
                <a:solidFill>
                  <a:srgbClr val="9C9C9C"/>
                </a:solidFill>
                <a:latin typeface="PingFang SC"/>
                <a:ea typeface="PingFang SC"/>
              </a:rPr>
              <a:t> · </a:t>
            </a:r>
            <a:r>
              <a:rPr lang="zh-CN" sz="975" spc="150">
                <a:solidFill>
                  <a:srgbClr val="9C9C9C"/>
                </a:solidFill>
                <a:latin typeface="PingFang SC"/>
                <a:ea typeface="PingFang SC"/>
              </a:rPr>
              <a:t>与雪山同框</a:t>
            </a:r>
            <a:endParaRPr/>
          </a:p>
        </p:txBody>
      </p:sp>
      <p:pic>
        <p:nvPicPr>
          <p:cNvPr id="52" name=""/>
          <p:cNvPicPr>
            <a:picLocks noChangeAspect="1"/>
          </p:cNvPicPr>
          <p:nvPr/>
        </p:nvPicPr>
        <p:blipFill>
          <a:blip r:embed="rId2"/>
          <a:srcRect l="6254" t="0" r="6254" b="0"/>
          <a:stretch>
            <a:fillRect/>
          </a:stretch>
        </p:blipFill>
        <p:spPr>
          <a:xfrm rot="0" flipH="0" flipV="0">
            <a:off x="609600" y="1495425"/>
            <a:ext cx="3143250" cy="4686300"/>
          </a:xfrm>
          <a:prstGeom prst="roundRect">
            <a:avLst>
              <a:gd name="adj" fmla="val 1818"/>
            </a:avLst>
          </a:prstGeom>
          <a:ln/>
        </p:spPr>
      </p:pic>
      <p:pic>
        <p:nvPicPr>
          <p:cNvPr id="53" name=""/>
          <p:cNvPicPr>
            <a:picLocks noChangeAspect="1"/>
          </p:cNvPicPr>
          <p:nvPr/>
        </p:nvPicPr>
        <p:blipFill>
          <a:blip r:embed="rId3"/>
          <a:srcRect l="0" t="5058" r="0" b="5058"/>
          <a:stretch>
            <a:fillRect/>
          </a:stretch>
        </p:blipFill>
        <p:spPr>
          <a:xfrm rot="0" flipH="0" flipV="0">
            <a:off x="3905250" y="1495425"/>
            <a:ext cx="4381500" cy="2914650"/>
          </a:xfrm>
          <a:prstGeom prst="roundRect">
            <a:avLst>
              <a:gd name="adj" fmla="val 1961"/>
            </a:avLst>
          </a:prstGeom>
          <a:ln/>
        </p:spPr>
      </p:pic>
      <p:sp>
        <p:nvSpPr>
          <p:cNvPr id="54" name=""/>
          <p:cNvSpPr/>
          <p:nvPr/>
        </p:nvSpPr>
        <p:spPr>
          <a:xfrm rot="0" flipH="0" flipV="0">
            <a:off x="3905250" y="4743450"/>
            <a:ext cx="2667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905250" y="4886325"/>
            <a:ext cx="4381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在赞巴明镜酒店换上康巴藏装，白墙木窗、草原村落、雪山经幡，随手一拍都是高原大片。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905250" y="55721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F5F4"/>
                </a:solidFill>
                <a:latin typeface="Avenir Next"/>
                <a:ea typeface="Avenir Next"/>
              </a:rPr>
              <a:t>康巴藏装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905250" y="586740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150">
                <a:solidFill>
                  <a:srgbClr val="9C9C9C"/>
                </a:solidFill>
                <a:latin typeface="PingFang SC"/>
                <a:ea typeface="PingFang SC"/>
              </a:rPr>
              <a:t>款式选择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010150" y="557212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F5F4"/>
                </a:solidFill>
                <a:latin typeface="Avenir Next"/>
                <a:ea typeface="Avenir Next"/>
              </a:rPr>
              <a:t>不限时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010150" y="586740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150">
                <a:solidFill>
                  <a:srgbClr val="9C9C9C"/>
                </a:solidFill>
                <a:latin typeface="PingFang SC"/>
                <a:ea typeface="PingFang SC"/>
              </a:rPr>
              <a:t>自由拍摄</a:t>
            </a:r>
            <a:endParaRPr/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 r:embed="rId4"/>
          <a:srcRect l="5308" t="0" r="5308" b="0"/>
          <a:stretch>
            <a:fillRect/>
          </a:stretch>
        </p:blipFill>
        <p:spPr>
          <a:xfrm rot="0" flipH="0" flipV="0">
            <a:off x="8439150" y="1495425"/>
            <a:ext cx="3028950" cy="4686300"/>
          </a:xfrm>
          <a:prstGeom prst="roundRect">
            <a:avLst>
              <a:gd name="adj" fmla="val 1887"/>
            </a:avLst>
          </a:prstGeom>
          <a:ln/>
        </p:spPr>
      </p:pic>
      <p:sp>
        <p:nvSpPr>
          <p:cNvPr id="61" name=""/>
          <p:cNvSpPr/>
          <p:nvPr/>
        </p:nvSpPr>
        <p:spPr>
          <a:xfrm rot="0" flipH="0" flipV="0">
            <a:off x="609600" y="6315075"/>
            <a:ext cx="10972800" cy="228600"/>
          </a:xfrm>
          <a:custGeom>
            <a:pathLst>
              <a:path w="1152" h="24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 descr="&lt;Slide style={{ width: 1280, height: 720, background: '#0A0A0B', flexDirection: 'column', padding: '58px 64px 34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11 — HOTEL&lt;/Text&gt;&#10;  &lt;/Box&gt;&#10;  &lt;Box style={{ flexDirection: 'row', alignItems: 'flex-end', justifyContent: 'space-between', marginTop: 16 }}&gt;&#10;    &lt;Text style={{ fontSize: 34, fontWeight: 'bold', color: '#F5F5F4', fontFamily: &quot;'PingFang SC','Microsoft YaHei',sans-serif&quot; }}&gt;赞巴明镜酒店&lt;/Text&gt;&#10;    &lt;Text style={{ fontSize: 13, color: '#9C9C9C', letterSpacing: 3, fontFamily: &quot;'Avenir Next','Helvetica Neue',sans-serif&quot; }}&gt;ZAMBA LUMINARIA&lt;/Text&gt;&#10;  &lt;/Box&gt;&#10;  &lt;Box style={{ flexDirection: 'row', gap: 20, marginTop: 22, flex: 1 }}&gt;&#10;    &lt;Box style={{ flex: 1, flexDirection: 'column', gap: 16 }}&gt;&#10;      &lt;Image src=&quot;assets/hotel_night.png&quot; style={{ width: '100%', height: 250, objectFit: 'cover', borderRadius: 6 }} /&gt;&#10;      &lt;Box style={{ flex: 1, flexDirection: 'column', gap: 10 }}&gt;&#10;        &lt;Box style={{ width: 28, height: 3, background: '#E9A23B' }} /&gt;&#10;        &lt;Text style={{ fontSize: 13.5, color: '#C9C9C9', lineHeight: 1.85, fontFamily: &quot;'PingFang SC','Microsoft YaHei',sans-serif&quot; }}&gt;2023 年开业的新都桥藏式隐奢酒店，2026 年川西行程的落脚点。藏式夯土碉楼 + 现代侘寂风：白墙木窗，内部原木、棉麻、原石。&lt;/Text&gt;&#10;        &lt;Text style={{ fontSize: 13.5, color: '#9C9C9C', lineHeight: 1.85, fontFamily: &quot;'PingFang SC','Microsoft YaHei',sans-serif&quot; }}&gt;公区陈列手绘唐卡、藏毯、转经筒、藏银器物，大量康巴藏文化元素。&lt;/Text&gt;&#10;      &lt;/Box&gt;&#10;    &lt;/Box&gt;&#10;    &lt;Box style={{ width: 500, flexDirection: 'column', gap: 16 }}&gt;&#10;      &lt;Image src=&quot;assets/hotel_room1.png&quot; style={{ width: 500, height: 250, objectFit: 'cover', borderRadius: 6 }} /&gt;&#10;      &lt;Image src=&quot;assets/hotel_restaurant.png&quot; style={{ width: 500, height: 150, objectFit: 'cover', borderRadius: 6 }} /&gt;&#10;      &lt;Box style={{ flexDirection: 'row', gap: 16, flex: 1 }}&gt;&#10;        {[['两晚', '连住不挪行李'], ['隐奢', '藏式侘寂风'], ['雪山', '窗外即景']].map((s, i) =&gt; (&#10;          &lt;Box key={i} style={{ flex: 1, background: 'rgba(255,255,255,0.06)', borderRadius: 4, padding: '12px 14px', flexDirection: 'column', gap: 4, justifyContent: 'center' }}&gt;&#10;            &lt;Text style={{ fontSize: 17, fontWeight: 'bold', color: '#F5F5F4', fontFamily: &quot;'PingFang SC','Microsoft YaHei',sans-serif&quot; }}&gt;{s[0]}&lt;/Text&gt;&#10;            &lt;Text style={{ fontSize: 11, color: '#9C9C9C', letterSpacing: 1, fontFamily: &quot;'PingFang SC','Microsoft YaHei',sans-serif&quot; }}&gt;{s[1]}&lt;/Text&gt;&#10;          &lt;/Box&gt;&#10;        ))}&#10;      &lt;/Box&gt;&#10;    &lt;/Box&gt;&#10;  &lt;/Box&gt;&#10;  &lt;Box style={{ flexDirection: 'row', justifyContent: 'space-between', borderTop: '1px solid rgba(255,255,255,0.14)', paddingTop: 10, marginTop: 14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12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552450"/>
            <a:ext cx="285750" cy="19050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09650" y="581025"/>
            <a:ext cx="962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11 — HOTEL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赞巴明镜酒店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020300" y="1133475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9C9C9C"/>
                </a:solidFill>
                <a:latin typeface="Avenir Next"/>
                <a:ea typeface="Avenir Next"/>
              </a:rPr>
              <a:t>ZAMBA LUMINARIA</a:t>
            </a:r>
            <a:endParaRPr/>
          </a:p>
        </p:txBody>
      </p:sp>
      <p:pic>
        <p:nvPicPr>
          <p:cNvPr id="70" name=""/>
          <p:cNvPicPr>
            <a:picLocks noChangeAspect="1"/>
          </p:cNvPicPr>
          <p:nvPr/>
        </p:nvPicPr>
        <p:blipFill>
          <a:blip r:embed="rId2"/>
          <a:srcRect l="0" t="14616" r="0" b="14616"/>
          <a:stretch>
            <a:fillRect/>
          </a:stretch>
        </p:blipFill>
        <p:spPr>
          <a:xfrm rot="0" flipH="0" flipV="0">
            <a:off x="609600" y="1495425"/>
            <a:ext cx="6019800" cy="2381250"/>
          </a:xfrm>
          <a:prstGeom prst="roundRect">
            <a:avLst>
              <a:gd name="adj" fmla="val 2400"/>
            </a:avLst>
          </a:prstGeom>
          <a:ln/>
        </p:spPr>
      </p:pic>
      <p:sp>
        <p:nvSpPr>
          <p:cNvPr id="71" name=""/>
          <p:cNvSpPr/>
          <p:nvPr/>
        </p:nvSpPr>
        <p:spPr>
          <a:xfrm rot="0" flipH="0" flipV="0">
            <a:off x="609600" y="4029075"/>
            <a:ext cx="2667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4152900"/>
            <a:ext cx="6019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en-US" sz="1013">
                <a:solidFill>
                  <a:srgbClr val="C9C9C9"/>
                </a:solidFill>
                <a:latin typeface="PingFang SC"/>
                <a:ea typeface="PingFang SC"/>
              </a:rPr>
              <a:t>2023 </a:t>
            </a: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年开业的新都桥藏式隐奢酒店，</a:t>
            </a:r>
            <a:r>
              <a:rPr lang="en-US" sz="1013">
                <a:solidFill>
                  <a:srgbClr val="C9C9C9"/>
                </a:solidFill>
                <a:latin typeface="PingFang SC"/>
                <a:ea typeface="PingFang SC"/>
              </a:rPr>
              <a:t>2026 </a:t>
            </a: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年川西行程的落脚点。藏式夯土碉楼</a:t>
            </a:r>
            <a:r>
              <a:rPr lang="en-US" sz="1013">
                <a:solidFill>
                  <a:srgbClr val="C9C9C9"/>
                </a:solidFill>
                <a:latin typeface="PingFang SC"/>
                <a:ea typeface="PingFang SC"/>
              </a:rPr>
              <a:t> + </a:t>
            </a: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现代侘寂风：白墙木窗，内部原木、棉麻、原石。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4819650"/>
            <a:ext cx="6019800" cy="2857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13">
                <a:solidFill>
                  <a:srgbClr val="9C9C9C"/>
                </a:solidFill>
                <a:latin typeface="PingFang SC"/>
                <a:ea typeface="PingFang SC"/>
              </a:rPr>
              <a:t>公区陈列手绘唐卡、藏毯、转经筒、藏银器物，大量康巴藏文化元素。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 r:embed="rId3"/>
          <a:srcRect l="0" t="12405" r="0" b="12405"/>
          <a:stretch>
            <a:fillRect/>
          </a:stretch>
        </p:blipFill>
        <p:spPr>
          <a:xfrm rot="0" flipH="0" flipV="0">
            <a:off x="6819900" y="1495425"/>
            <a:ext cx="4762500" cy="2381250"/>
          </a:xfrm>
          <a:prstGeom prst="roundRect">
            <a:avLst>
              <a:gd name="adj" fmla="val 2400"/>
            </a:avLst>
          </a:prstGeom>
          <a:ln/>
        </p:spPr>
      </p:pic>
      <p:pic>
        <p:nvPicPr>
          <p:cNvPr id="75" name=""/>
          <p:cNvPicPr>
            <a:picLocks noChangeAspect="1"/>
          </p:cNvPicPr>
          <p:nvPr/>
        </p:nvPicPr>
        <p:blipFill>
          <a:blip r:embed="rId4"/>
          <a:srcRect l="0" t="26640" r="0" b="26640"/>
          <a:stretch>
            <a:fillRect/>
          </a:stretch>
        </p:blipFill>
        <p:spPr>
          <a:xfrm rot="0" flipH="0" flipV="0">
            <a:off x="6819900" y="4029075"/>
            <a:ext cx="4762500" cy="142875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76" name=""/>
          <p:cNvSpPr/>
          <p:nvPr/>
        </p:nvSpPr>
        <p:spPr>
          <a:xfrm rot="0" flipH="0" flipV="0">
            <a:off x="6819900" y="5610225"/>
            <a:ext cx="1485900" cy="600075"/>
          </a:xfrm>
          <a:prstGeom prst="roundRect">
            <a:avLst>
              <a:gd name="adj" fmla="val 6349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953250" y="572452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F5F4"/>
                </a:solidFill>
                <a:latin typeface="PingFang SC"/>
                <a:ea typeface="PingFang SC"/>
              </a:rPr>
              <a:t>两晚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953250" y="596265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连住不挪行李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8458200" y="5610225"/>
            <a:ext cx="1485900" cy="600075"/>
          </a:xfrm>
          <a:prstGeom prst="roundRect">
            <a:avLst>
              <a:gd name="adj" fmla="val 6349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591550" y="572452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F5F4"/>
                </a:solidFill>
                <a:latin typeface="PingFang SC"/>
                <a:ea typeface="PingFang SC"/>
              </a:rPr>
              <a:t>隐奢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591550" y="596265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藏式侘寂风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10096500" y="5610225"/>
            <a:ext cx="1485900" cy="600075"/>
          </a:xfrm>
          <a:prstGeom prst="roundRect">
            <a:avLst>
              <a:gd name="adj" fmla="val 6349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0229850" y="572452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F5F4"/>
                </a:solidFill>
                <a:latin typeface="PingFang SC"/>
                <a:ea typeface="PingFang SC"/>
              </a:rPr>
              <a:t>雪山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229850" y="596265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窗外即景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6343650"/>
            <a:ext cx="10972800" cy="228600"/>
          </a:xfrm>
          <a:custGeom>
            <a:pathLst>
              <a:path w="1152" h="24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144250" y="64484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 descr="&lt;Slide style={{ width: 1280, height: 720, background: '#0A0A0B', flexDirection: 'column', padding: '58px 64px 34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12 — LOGISTICS&lt;/Text&gt;&#10;  &lt;/Box&gt;&#10;  &lt;Box style={{ flexDirection: 'row', alignItems: 'flex-end', justifyContent: 'space-between', marginTop: 16 }}&gt;&#10;    &lt;Text style={{ fontSize: 34, fontWeight: 'bold', color: '#F5F5F4', fontFamily: &quot;'PingFang SC','Microsoft YaHei',sans-serif&quot; }}&gt;后勤车辆服务&lt;/Text&gt;&#10;    &lt;Text style={{ fontSize: 13, color: '#E9A23B', letterSpacing: 2, fontFamily: &quot;'PingFang SC','Microsoft YaHei',sans-serif&quot; }}&gt;正规旅游保姆大巴 1+1（20 人）&lt;/Text&gt;&#10;  &lt;/Box&gt;&#10;  &lt;Box style={{ flexDirection: 'row', gap: 20, marginTop: 22, flex: 1 }}&gt;&#10;    &lt;Image src=&quot;assets/coach_exterior.png&quot; style={{ width: 640, height: '100%', objectFit: 'cover', borderRadius: 6 }} /&gt;&#10;    &lt;Box style={{ flex: 1, flexDirection: 'column', gap: 16 }}&gt;&#10;      &lt;Image src=&quot;assets/coach_seat1.png&quot; style={{ width: '100%', height: 200, objectFit: 'cover', borderRadius: 6 }} /&gt;&#10;      &lt;Image src=&quot;assets/coach_seat2.png&quot; style={{ width: '100%', height: 200, objectFit: 'cover', borderRadius: 6 }} /&gt;&#10;      &lt;Box style={{ flex: 1, flexDirection: 'row', gap: 14 }}&gt;&#10;        {[['1+1', '航空座椅布局'], ['20人', '整车成行'], ['持证', '旅游营运资质']].map((s, i) =&gt; (&#10;          &lt;Box key={i} style={{ flex: 1, background: 'rgba(255,255,255,0.06)', borderRadius: 4, padding: '12px 14px', flexDirection: 'column', gap: 4, justifyContent: 'center' }}&gt;&#10;            &lt;Text style={{ fontSize: 16, fontWeight: 'bold', color: '#F5F5F4', fontFamily: &quot;'Avenir Next','Helvetica Neue',sans-serif&quot; }}&gt;{s[0]}&lt;/Text&gt;&#10;            &lt;Text style={{ fontSize: 11, color: '#9C9C9C', letterSpacing: 1, fontFamily: &quot;'PingFang SC','Microsoft YaHei',sans-serif&quot; }}&gt;{s[1]}&lt;/Text&gt;&#10;          &lt;/Box&gt;&#10;        ))}&#10;      &lt;/Box&gt;&#10;    &lt;/Box&gt;&#10;  &lt;/Box&gt;&#10;  &lt;Box style={{ flexDirection: 'row', justifyContent: 'space-between', borderTop: '1px solid rgba(255,255,255,0.14)', paddingTop: 10, marginTop: 14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13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90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552450"/>
            <a:ext cx="285750" cy="190500"/>
          </a:xfrm>
          <a:prstGeom prst="rect">
            <a:avLst/>
          </a:prstGeom>
          <a:ln/>
        </p:spPr>
      </p:pic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09650" y="581025"/>
            <a:ext cx="1304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12 — LOGISTICS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后勤车辆服务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467850" y="1133475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正规旅游保姆大巴</a:t>
            </a:r>
            <a:r>
              <a:rPr lang="en-US" sz="975" spc="150">
                <a:solidFill>
                  <a:srgbClr val="E9A23B"/>
                </a:solidFill>
                <a:latin typeface="PingFang SC"/>
                <a:ea typeface="PingFang SC"/>
              </a:rPr>
              <a:t> 1+1</a:t>
            </a: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（</a:t>
            </a:r>
            <a:r>
              <a:rPr lang="en-US" sz="975" spc="150">
                <a:solidFill>
                  <a:srgbClr val="E9A23B"/>
                </a:solidFill>
                <a:latin typeface="PingFang SC"/>
                <a:ea typeface="PingFang SC"/>
              </a:rPr>
              <a:t>20 </a:t>
            </a: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人）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 r:embed="rId2"/>
          <a:srcRect l="4057" t="0" r="4057" b="0"/>
          <a:stretch>
            <a:fillRect/>
          </a:stretch>
        </p:blipFill>
        <p:spPr>
          <a:xfrm rot="0" flipH="0" flipV="0">
            <a:off x="609600" y="1495425"/>
            <a:ext cx="6096000" cy="4705350"/>
          </a:xfrm>
          <a:prstGeom prst="roundRect">
            <a:avLst>
              <a:gd name="adj" fmla="val 1215"/>
            </a:avLst>
          </a:prstGeom>
          <a:ln/>
        </p:spPr>
      </p:pic>
      <p:pic>
        <p:nvPicPr>
          <p:cNvPr id="95" name=""/>
          <p:cNvPicPr>
            <a:picLocks noChangeAspect="1"/>
          </p:cNvPicPr>
          <p:nvPr/>
        </p:nvPicPr>
        <p:blipFill>
          <a:blip r:embed="rId3"/>
          <a:srcRect l="0" t="34109" r="0" b="34109"/>
          <a:stretch>
            <a:fillRect/>
          </a:stretch>
        </p:blipFill>
        <p:spPr>
          <a:xfrm rot="0" flipH="0" flipV="0">
            <a:off x="6896100" y="1495425"/>
            <a:ext cx="4686300" cy="1905000"/>
          </a:xfrm>
          <a:prstGeom prst="roundRect">
            <a:avLst>
              <a:gd name="adj" fmla="val 3000"/>
            </a:avLst>
          </a:prstGeom>
          <a:ln/>
        </p:spPr>
      </p:pic>
      <p:pic>
        <p:nvPicPr>
          <p:cNvPr id="96" name=""/>
          <p:cNvPicPr>
            <a:picLocks noChangeAspect="1"/>
          </p:cNvPicPr>
          <p:nvPr/>
        </p:nvPicPr>
        <p:blipFill>
          <a:blip r:embed="rId4"/>
          <a:srcRect l="0" t="33546" r="0" b="33546"/>
          <a:stretch>
            <a:fillRect/>
          </a:stretch>
        </p:blipFill>
        <p:spPr>
          <a:xfrm rot="0" flipH="0" flipV="0">
            <a:off x="6896100" y="3552825"/>
            <a:ext cx="4686300" cy="1905000"/>
          </a:xfrm>
          <a:prstGeom prst="roundRect">
            <a:avLst>
              <a:gd name="adj" fmla="val 3000"/>
            </a:avLst>
          </a:prstGeom>
          <a:ln/>
        </p:spPr>
      </p:pic>
      <p:sp>
        <p:nvSpPr>
          <p:cNvPr id="97" name=""/>
          <p:cNvSpPr/>
          <p:nvPr/>
        </p:nvSpPr>
        <p:spPr>
          <a:xfrm rot="0" flipH="0" flipV="0">
            <a:off x="6896100" y="5610225"/>
            <a:ext cx="147637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029450" y="5724525"/>
            <a:ext cx="1209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F5F4"/>
                </a:solidFill>
                <a:latin typeface="Avenir Next"/>
                <a:ea typeface="Avenir Next"/>
              </a:rPr>
              <a:t>1+1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029450" y="595312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航空座椅布局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505825" y="5610225"/>
            <a:ext cx="1466850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639175" y="5724525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F5F4"/>
                </a:solidFill>
                <a:latin typeface="Avenir Next"/>
                <a:ea typeface="Avenir Next"/>
              </a:rPr>
              <a:t>20</a:t>
            </a:r>
            <a:r>
              <a:rPr lang="zh-CN" sz="1200" b="1">
                <a:solidFill>
                  <a:srgbClr val="F5F5F4"/>
                </a:solidFill>
                <a:latin typeface="Avenir Next"/>
                <a:ea typeface="Avenir Next"/>
              </a:rPr>
              <a:t>人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639175" y="5953125"/>
            <a:ext cx="1200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整车成行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10106025" y="5610225"/>
            <a:ext cx="147637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239375" y="5724525"/>
            <a:ext cx="1209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4"/>
                </a:solidFill>
                <a:latin typeface="Avenir Next"/>
                <a:ea typeface="Avenir Next"/>
              </a:rPr>
              <a:t>持证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239375" y="595312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旅游营运资质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6334125"/>
            <a:ext cx="10972800" cy="228600"/>
          </a:xfrm>
          <a:custGeom>
            <a:pathLst>
              <a:path w="1152" h="24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44250" y="64389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 descr="&lt;Slide style={{ width: 1280, height: 720, background: '#0A0A0B', flexDirection: 'column', padding: '58px 64px 34px 64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13 — CREW&lt;/Text&gt;&#10;  &lt;/Box&gt;&#10;  &lt;Box style={{ flexDirection: 'row', alignItems: 'flex-end', justifyContent: 'space-between', marginTop: 16 }}&gt;&#10;    &lt;Text style={{ fontSize: 34, fontWeight: 'bold', color: '#F5F5F4', fontFamily: &quot;'PingFang SC','Microsoft YaHei',sans-serif&quot; }}&gt;后勤人员服务&lt;/Text&gt;&#10;    &lt;Text style={{ fontSize: 13, color: '#E9A23B', letterSpacing: 2, fontFamily: &quot;'PingFang SC','Microsoft YaHei',sans-serif&quot; }}&gt;专业持证 · 全程随行&lt;/Text&gt;&#10;  &lt;/Box&gt;&#10;  &lt;Box style={{ flexDirection: 'row', gap: 16, marginTop: 24 }}&gt;&#10;    &lt;Image src=&quot;assets/cert_a.png&quot; style={{ width: 373, height: 288, objectFit: 'cover', borderRadius: 6 }} /&gt;&#10;    &lt;Image src=&quot;assets/cert_b.png&quot; style={{ width: 373, height: 288, objectFit: 'cover', borderRadius: 6 }} /&gt;&#10;    &lt;Image src=&quot;assets/cert_coach.jpeg&quot; style={{ width: 374, height: 288, objectFit: 'cover', borderRadius: 6 }} /&gt;&#10;  &lt;/Box&gt;&#10;  &lt;Box style={{ flexDirection: 'row', gap: 14, alignItems: 'flex-start', marginTop: 24 }}&gt;&#10;    &lt;Box style={{ width: 3, height: 15, background: '#E9A23B', marginTop: 6 }} /&gt;&#10;    &lt;Text style={{ fontSize: 13.5, color: '#C9C9C9', lineHeight: 1.85, width: 1020, fontFamily: &quot;'PingFang SC','Microsoft YaHei',sans-serif&quot; }}&gt;专业户外持证出游工作人员及导游、向导等服务人员随行：高原经验丰富，熟悉沿线气候、路况与观景点位，全程陪同并协助高反应对、摄影取景与行程节奏把控。&lt;/Text&gt;&#10;  &lt;/Box&gt;&#10;  &lt;Box style={{ flexDirection: 'row', gap: 16, marginTop: 22 }}&gt;&#10;    {[['教练证', '体验式培训研究院'], ['等级证', '国家职业能力认证'], ['导游/向导', '持证上岗']].map((s, i) =&gt; (&#10;      &lt;Box key={i} style={{ width: 373, background: 'rgba(255,255,255,0.06)', borderRadius: 4, padding: '15px 18px', flexDirection: 'column', gap: 6 }}&gt;&#10;        &lt;Text style={{ fontSize: 17, fontWeight: 'bold', color: '#F5F5F4', fontFamily: &quot;'PingFang SC','Microsoft YaHei',sans-serif&quot; }}&gt;{s[0]}&lt;/Text&gt;&#10;        &lt;Text style={{ fontSize: 11, color: '#9C9C9C', letterSpacing: 1, lineHeight: 1.6, fontFamily: &quot;'PingFang SC','Microsoft YaHei',sans-serif&quot; }}&gt;{s[1]}&lt;/Text&gt;&#10;      &lt;/Box&gt;&#10;    ))}&#10;  &lt;/Box&gt;&#10;  &lt;Box style={{ flex: 1 }} /&gt;&#10;  &lt;Box style={{ flexDirection: 'row', justifyContent: 'space-between', borderTop: '1px solid rgba(255,255,255,0.14)', paddingTop: 10, marginTop: 14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14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609600" y="552450"/>
            <a:ext cx="285750" cy="19050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009650" y="581025"/>
            <a:ext cx="885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13 — CREW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5F5F4"/>
                </a:solidFill>
                <a:latin typeface="PingFang SC"/>
                <a:ea typeface="PingFang SC"/>
              </a:rPr>
              <a:t>后勤人员服务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229850" y="1133475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专业持证</a:t>
            </a:r>
            <a:r>
              <a:rPr lang="en-US" sz="975" spc="150">
                <a:solidFill>
                  <a:srgbClr val="E9A23B"/>
                </a:solidFill>
                <a:latin typeface="PingFang SC"/>
                <a:ea typeface="PingFang SC"/>
              </a:rPr>
              <a:t> · </a:t>
            </a: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全程随行</a:t>
            </a:r>
            <a:endParaRPr/>
          </a:p>
        </p:txBody>
      </p:sp>
      <p:pic>
        <p:nvPicPr>
          <p:cNvPr id="115" name=""/>
          <p:cNvPicPr>
            <a:picLocks noChangeAspect="1"/>
          </p:cNvPicPr>
          <p:nvPr/>
        </p:nvPicPr>
        <p:blipFill>
          <a:blip r:embed="rId2"/>
          <a:srcRect l="6037" t="0" r="6037" b="0"/>
          <a:stretch>
            <a:fillRect/>
          </a:stretch>
        </p:blipFill>
        <p:spPr>
          <a:xfrm rot="0" flipH="0" flipV="0">
            <a:off x="609600" y="1514475"/>
            <a:ext cx="3552825" cy="2743200"/>
          </a:xfrm>
          <a:prstGeom prst="roundRect">
            <a:avLst>
              <a:gd name="adj" fmla="val 2083"/>
            </a:avLst>
          </a:prstGeom>
          <a:ln/>
        </p:spPr>
      </p:pic>
      <p:pic>
        <p:nvPicPr>
          <p:cNvPr id="116" name=""/>
          <p:cNvPicPr>
            <a:picLocks noChangeAspect="1"/>
          </p:cNvPicPr>
          <p:nvPr/>
        </p:nvPicPr>
        <p:blipFill>
          <a:blip r:embed="rId3"/>
          <a:srcRect l="2305" t="0" r="2305" b="0"/>
          <a:stretch>
            <a:fillRect/>
          </a:stretch>
        </p:blipFill>
        <p:spPr>
          <a:xfrm rot="0" flipH="0" flipV="0">
            <a:off x="4314825" y="1514475"/>
            <a:ext cx="3552825" cy="2743200"/>
          </a:xfrm>
          <a:prstGeom prst="roundRect">
            <a:avLst>
              <a:gd name="adj" fmla="val 2083"/>
            </a:avLst>
          </a:prstGeom>
          <a:ln/>
        </p:spPr>
      </p:pic>
      <p:pic>
        <p:nvPicPr>
          <p:cNvPr id="117" name=""/>
          <p:cNvPicPr>
            <a:picLocks noChangeAspect="1"/>
          </p:cNvPicPr>
          <p:nvPr/>
        </p:nvPicPr>
        <p:blipFill>
          <a:blip r:embed="rId4"/>
          <a:srcRect l="0" t="22759" r="0" b="22759"/>
          <a:stretch>
            <a:fillRect/>
          </a:stretch>
        </p:blipFill>
        <p:spPr>
          <a:xfrm rot="0" flipH="0" flipV="0">
            <a:off x="8020050" y="1514475"/>
            <a:ext cx="3562350" cy="2743200"/>
          </a:xfrm>
          <a:prstGeom prst="roundRect">
            <a:avLst>
              <a:gd name="adj" fmla="val 2083"/>
            </a:avLst>
          </a:prstGeom>
          <a:ln/>
        </p:spPr>
      </p:pic>
      <p:sp>
        <p:nvSpPr>
          <p:cNvPr id="118" name=""/>
          <p:cNvSpPr/>
          <p:nvPr/>
        </p:nvSpPr>
        <p:spPr>
          <a:xfrm rot="0" flipH="0" flipV="0">
            <a:off x="609600" y="4543425"/>
            <a:ext cx="28575" cy="1428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71525" y="4486275"/>
            <a:ext cx="9715500" cy="2857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13">
                <a:solidFill>
                  <a:srgbClr val="C9C9C9"/>
                </a:solidFill>
                <a:latin typeface="PingFang SC"/>
                <a:ea typeface="PingFang SC"/>
              </a:rPr>
              <a:t>专业户外持证出游工作人员及导游、向导等服务人员随行：高原经验丰富，熟悉沿线气候、路况与观景点位，全程陪同并协助高反应对、摄影取景与行程节奏把控。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4981575"/>
            <a:ext cx="3552825" cy="752475"/>
          </a:xfrm>
          <a:prstGeom prst="roundRect">
            <a:avLst>
              <a:gd name="adj" fmla="val 506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1050" y="5124450"/>
            <a:ext cx="3209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F5F4"/>
                </a:solidFill>
                <a:latin typeface="PingFang SC"/>
                <a:ea typeface="PingFang SC"/>
              </a:rPr>
              <a:t>教练证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81050" y="5381625"/>
            <a:ext cx="3209925" cy="209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体验式培训研究院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314825" y="4981575"/>
            <a:ext cx="3552825" cy="752475"/>
          </a:xfrm>
          <a:prstGeom prst="roundRect">
            <a:avLst>
              <a:gd name="adj" fmla="val 506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486275" y="5124450"/>
            <a:ext cx="3209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F5F4"/>
                </a:solidFill>
                <a:latin typeface="PingFang SC"/>
                <a:ea typeface="PingFang SC"/>
              </a:rPr>
              <a:t>等级证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486275" y="5381625"/>
            <a:ext cx="3209925" cy="209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国家职业能力认证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020050" y="4981575"/>
            <a:ext cx="3552825" cy="752475"/>
          </a:xfrm>
          <a:prstGeom prst="roundRect">
            <a:avLst>
              <a:gd name="adj" fmla="val 506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191500" y="5124450"/>
            <a:ext cx="3209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F5F4"/>
                </a:solidFill>
                <a:latin typeface="PingFang SC"/>
                <a:ea typeface="PingFang SC"/>
              </a:rPr>
              <a:t>导游</a:t>
            </a:r>
            <a:r>
              <a:rPr lang="en-US" sz="1275" b="1">
                <a:solidFill>
                  <a:srgbClr val="F5F5F4"/>
                </a:solidFill>
                <a:latin typeface="PingFang SC"/>
                <a:ea typeface="PingFang SC"/>
              </a:rPr>
              <a:t>/</a:t>
            </a:r>
            <a:r>
              <a:rPr lang="zh-CN" sz="1275" b="1">
                <a:solidFill>
                  <a:srgbClr val="F5F5F4"/>
                </a:solidFill>
                <a:latin typeface="PingFang SC"/>
                <a:ea typeface="PingFang SC"/>
              </a:rPr>
              <a:t>向导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191500" y="5381625"/>
            <a:ext cx="3209925" cy="209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25" spc="75">
                <a:solidFill>
                  <a:srgbClr val="9C9C9C"/>
                </a:solidFill>
                <a:latin typeface="PingFang SC"/>
                <a:ea typeface="PingFang SC"/>
              </a:rPr>
              <a:t>持证上岗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6315075"/>
            <a:ext cx="10972800" cy="228600"/>
          </a:xfrm>
          <a:custGeom>
            <a:pathLst>
              <a:path w="1152" h="24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 descr="&lt;Slide style={{ width: 1280, height: 720, background: '#0A0A0B', flexDirection: 'column', padding: '50px 56px 30px 56px' }}&gt;&#10;  &lt;Box style={{ flexDirection: 'row', alignItems: 'center', gap: 12 }}&gt;&#10;    &lt;Image src=&quot;assets/logo_arcteryx_white.png&quot; style={{ width: 30, height: 20 }} /&gt;&#10;    &lt;Text style={{ fontSize: 11, letterSpacing: 4, color: '#9C9C9C', fontFamily: &quot;'Avenir Next','Helvetica Neue',sans-serif&quot; }}&gt;14 — COST&lt;/Text&gt;&#10;  &lt;/Box&gt;&#10;  &lt;Box style={{ flexDirection: 'row', alignItems: 'flex-end', justifyContent: 'space-between', marginTop: 14 }}&gt;&#10;    &lt;Text style={{ fontSize: 32, fontWeight: 'bold', color: '#F5F5F4', fontFamily: &quot;'PingFang SC','Microsoft YaHei',sans-serif&quot; }}&gt;活动费用明细&lt;/Text&gt;&#10;    &lt;Text style={{ fontSize: 13, color: '#E9A23B', letterSpacing: 2, fontFamily: &quot;'PingFang SC','Microsoft YaHei',sans-serif&quot; }}&gt;按 20 人报价 · 成本预估&lt;/Text&gt;&#10;  &lt;/Box&gt;&#10;  &lt;Box style={{ flexDirection: 'row', gap: 22, marginTop: 16, flex: 1 }}&gt;&#10;    &lt;Box style={{ width: 620, flexDirection: 'column' }}&gt;&#10;      &lt;Box style={{ flexDirection: 'row', alignItems: 'center', paddingBottom: 6, borderBottom: '1px solid rgba(255,255,255,0.30)' }}&gt;&#10;        &lt;Text style={{ width: 74, fontSize: 10.5, letterSpacing: 2, color: '#9C9C9C', fontFamily: &quot;'PingFang SC','Microsoft YaHei',sans-serif&quot; }}&gt;项目&lt;/Text&gt;&#10;        &lt;Text style={{ width: 296, fontSize: 10.5, letterSpacing: 2, color: '#9C9C9C', fontFamily: &quot;'PingFang SC','Microsoft YaHei',sans-serif&quot; }}&gt;内容&lt;/Text&gt;&#10;        &lt;Text style={{ width: 72, fontSize: 10.5, letterSpacing: 2, color: '#9C9C9C', textAlign: 'right', fontFamily: &quot;'PingFang SC','Microsoft YaHei',sans-serif&quot; }}&gt;数量&lt;/Text&gt;&#10;        &lt;Text style={{ width: 82, fontSize: 10.5, letterSpacing: 2, color: '#9C9C9C', textAlign: 'right', fontFamily: &quot;'PingFang SC','Microsoft YaHei',sans-serif&quot; }}&gt;单价&lt;/Text&gt;&#10;        &lt;Text style={{ width: 96, fontSize: 10.5, letterSpacing: 2, color: '#9C9C9C', textAlign: 'right', fontFamily: &quot;'PingFang SC','Microsoft YaHei',sans-serif&quot; }}&gt;小计&lt;/Text&gt;&#10;      &lt;/Box&gt;&#10;      {[&#10;        ['D1 · 去程与住宿', '49,850', [&#10;          ['车费', '保姆大巴车（20 人）', '1 台', '2,500', '2,500'],&#10;          ['午餐', '康定藏式牦牛肉菌汤锅', '20 人', '80', '1,600'],&#10;          ['晚餐', '酒店户外直火草原烤肉', '20 人', '500', '10,000'],&#10;          ['住宿', '赞巴明镜酒店 · 标间', '10 间', '3,200', '32,000'],&#10;          ['门票', '鱼子西清洁费', '25 人', '50', '1,250'],&#10;          ['中转车', '当地越野中转车 · 往返', '25 人', '100', '2,500'],&#10;        ]],&#10;        ['D2 · 返程与体验', '10,500', [&#10;          ['车费', '保姆大巴车（20 人）', '1 台', '2,500', '2,500'],&#10;          ['午餐', '酒店特色餐食', '20 人', '300', '6,000'],&#10;          ['唐卡体验', '非遗唐卡绘制体验', '20 人', '100', '2,000'],&#10;        ]],&#10;        ['其他 · 服务与保障', '8,860', [&#10;          ['饮用水', '活动全程两天饮用水（依云）', '80 瓶', '10', '800'],&#10;          ['氧气', '活动配备氧气罐', '40 罐', '20', '800'],&#10;          ['摄影', '全程摄影师（已含）', '2 天', '—', '0'],&#10;          ['领队', '全程领队 2 天服务', '6 人天', '800', '4,800'],&#10;          ['保险', '100 万户外旅游保险', '40 人天', '15', '600'],&#10;          ['工作餐', '领队 / 摄影 / 司机餐食', '12 人天', '80', '960'],&#10;          ['工作住宿', '领队及司机摄影住宿', '3 间', '300', '900'],&#10;        ]],&#10;        ['策划执行 · 总费用 10%', '6,921', [&#10;          ['前期计调', '策划执行及前期计调安排', '10%', '—', '6,921'],&#10;        ]],&#10;      ].map((g, gi) =&gt; (&#10;        &lt;Box key={gi} style={{ flexDirection: 'column' }}&gt;&#10;          &lt;Box style={{ flexDirection: 'row', alignItems: 'center', paddingTop: gi === 0 ? 10 : 11, paddingBottom: 3 }}&gt;&#10;            &lt;Box style={{ width: 3, height: 11, background: '#E9A23B', marginRight: 8 }} /&gt;&#10;            &lt;Text style={{ fontSize: 11, letterSpacing: 1.5, color: '#E9A23B', fontFamily: &quot;'PingFang SC','Microsoft YaHei',sans-serif&quot; }}&gt;{g[0]}&lt;/Text&gt;&#10;            &lt;Box style={{ flex: 1 }} /&gt;&#10;            &lt;Text style={{ fontSize: 11, color: '#E9A23B', fontFamily: &quot;'Avenir Next','Helvetica Neue',sans-serif&quot; }}&gt;{g[1]}&lt;/Text&gt;&#10;          &lt;/Box&gt;&#10;          {g[2].map((row, ri) =&gt; (&#10;            &lt;Box key={ri} style={{ flexDirection: 'row', alignItems: 'center', paddingTop: 4, paddingBottom: 4, borderBottom: '1px solid rgba(255,255,255,0.09)' }}&gt;&#10;              &lt;Text style={{ width: 74, fontSize: 11.5, color: '#F5F5F4', fontWeight: 'bold', fontFamily: &quot;'PingFang SC','Microsoft YaHei',sans-serif&quot; }}&gt;{row[0]}&lt;/Text&gt;&#10;              &lt;Text style={{ width: 296, fontSize: 11.5, color: '#C9C9C9', fontFamily: &quot;'PingFang SC','Microsoft YaHei',sans-serif&quot; }}&gt;{row[1]}&lt;/Text&gt;&#10;              &lt;Text style={{ width: 72, fontSize: 11, color: '#9C9C9C', textAlign: 'right', fontFamily: &quot;'PingFang SC','Microsoft YaHei',sans-serif&quot; }}&gt;{row[2]}&lt;/Text&gt;&#10;              &lt;Text style={{ width: 82, fontSize: 11, color: '#9C9C9C', textAlign: 'right', fontFamily: &quot;'Avenir Next','Helvetica Neue',sans-serif&quot; }}&gt;{row[3]}&lt;/Text&gt;&#10;              &lt;Text style={{ width: 96, fontSize: 12, color: '#F5F5F4', textAlign: 'right', fontFamily: &quot;'Avenir Next','Helvetica Neue',sans-serif&quot; }}&gt;{row[4]}&lt;/Text&gt;&#10;            &lt;/Box&gt;&#10;          ))}&#10;        &lt;/Box&gt;&#10;      ))}&#10;    &lt;/Box&gt;&#10;    &lt;Box style={{ flex: 1, flexDirection: 'column', gap: 14 }}&gt;&#10;      &lt;Box style={{ flexDirection: 'column', gap: 8, background: 'rgba(233,162,59,0.10)', border: '1px solid rgba(233,162,59,0.35)', borderRadius: 4, padding: 20 }}&gt;&#10;        &lt;Text style={{ fontSize: 10.5, letterSpacing: 3, color: '#E9A23B', fontFamily: &quot;'PingFang SC','Microsoft YaHei',sans-serif&quot; }}&gt;合计 · 20 人 · 未含税&lt;/Text&gt;&#10;        &lt;Text style={{ fontSize: 38, fontWeight: 'bold', color: '#F5F5F4', fontFamily: &quot;'Avenir Next','Helvetica Neue',sans-serif&quot; }}&gt;¥ 76,131.00&lt;/Text&gt;&#10;        &lt;Box style={{ flexDirection: 'row', justifyContent: 'space-between', marginTop: 4 }}&gt;&#10;          &lt;Box style={{ flexDirection: 'column', gap: 3 }}&gt;&#10;            &lt;Text style={{ fontSize: 10, color: '#9C9C9C', letterSpacing: 1, fontFamily: &quot;'PingFang SC','Microsoft YaHei',sans-serif&quot; }}&gt;前期合计&lt;/Text&gt;&#10;            &lt;Text style={{ fontSize: 14, color: '#F5F5F4', fontFamily: &quot;'Avenir Next','Helvetica Neue',sans-serif&quot; }}&gt;¥ 69,210.00&lt;/Text&gt;&#10;          &lt;/Box&gt;&#10;          &lt;Box style={{ flexDirection: 'column', gap: 3 }}&gt;&#10;            &lt;Text style={{ fontSize: 10, color: '#9C9C9C', letterSpacing: 1, fontFamily: &quot;'PingFang SC','Microsoft YaHei',sans-serif&quot; }}&gt;策划执行（10%）&lt;/Text&gt;&#10;            &lt;Text style={{ fontSize: 14, color: '#F5F5F4', fontFamily: &quot;'Avenir Next','Helvetica Neue',sans-serif&quot; }}&gt;¥ 6,921.00&lt;/Text&gt;&#10;          &lt;/Box&gt;&#10;        &lt;/Box&gt;&#10;      &lt;/Box&gt;&#10;      &lt;Box style={{ flexDirection: 'row', gap: 12 }}&gt;&#10;        &lt;Box style={{ flex: 1, flexDirection: 'column', gap: 5, background: 'rgba(255,255,255,0.06)', borderRadius: 4, padding: 16 }}&gt;&#10;          &lt;Text style={{ fontSize: 10, color: '#9C9C9C', letterSpacing: 1, fontFamily: &quot;'PingFang SC','Microsoft YaHei',sans-serif&quot; }}&gt;人均费用&lt;/Text&gt;&#10;          &lt;Text style={{ fontSize: 21, fontWeight: 'bold', color: '#E9A23B', fontFamily: &quot;'Avenir Next','Helvetica Neue',sans-serif&quot; }}&gt;¥ 3,806.55&lt;/Text&gt;&#10;        &lt;/Box&gt;&#10;        &lt;Box style={{ flex: 1, flexDirection: 'column', gap: 5, background: 'rgba(255,255,255,0.06)', borderRadius: 4, padding: 16 }}&gt;&#10;          &lt;Text style={{ fontSize: 10, color: '#9C9C9C', letterSpacing: 1, fontFamily: &quot;'PingFang SC','Microsoft YaHei',sans-serif&quot; }}&gt;费用条目&lt;/Text&gt;&#10;          &lt;Text style={{ fontSize: 21, fontWeight: 'bold', color: '#F5F5F4', fontFamily: &quot;'Avenir Next','Helvetica Neue',sans-serif&quot; }}&gt;16 项&lt;/Text&gt;&#10;        &lt;/Box&gt;&#10;      &lt;/Box&gt;&#10;      &lt;Box style={{ flexDirection: 'column', gap: 20, background: 'rgba(255,255,255,0.06)', borderRadius: 4, padding: 20 }}&gt;&#10;        &lt;Text style={{ fontSize: 10.5, letterSpacing: 3, color: '#E9A23B', fontFamily: &quot;'PingFang SC','Microsoft YaHei',sans-serif&quot; }}&gt;费用结构&lt;/Text&gt;&#10;        {[&#10;          ['D1 去程与住宿', 216, '49,850', '65%'],&#10;          ['D2 返程与体验', 46, '10,500', '14%'],&#10;          ['其他服务保障', 38, '8,860', '12%'],&#10;          ['策划执行 10%', 30, '6,921', '9%'],&#10;        ].map((b, bi) =&gt; (&#10;          &lt;Box key={bi} style={{ flexDirection: 'row', alignItems: 'center' }}&gt;&#10;            &lt;Text style={{ width: 88, fontSize: 10.5, color: '#C9C9C9', fontFamily: &quot;'PingFang SC','Microsoft YaHei',sans-serif&quot; }}&gt;{b[0]}&lt;/Text&gt;&#10;            &lt;Box style={{ width: 322, height: 6, background: 'rgba(255,255,255,0.10)', borderRadius: 3, marginRight: 10 }}&gt;&#10;              &lt;Box style={{ width: b[1], height: 6, background: '#E9A23B', borderRadius: 3 }} /&gt;&#10;            &lt;/Box&gt;&#10;            &lt;Text style={{ width: 64, fontSize: 11, color: '#F5F5F4', textAlign: 'right', fontFamily: &quot;'Avenir Next','Helvetica Neue',sans-serif&quot; }}&gt;{b[2]}&lt;/Text&gt;&#10;            &lt;Text style={{ width: 38, fontSize: 10, color: '#9C9C9C', textAlign: 'right', fontFamily: &quot;'Avenir Next','Helvetica Neue',sans-serif&quot; }}&gt;{b[3]}&lt;/Text&gt;&#10;          &lt;/Box&gt;&#10;        ))}&#10;      &lt;/Box&gt;&#10;      &lt;Box style={{ flex: 1 }} /&gt;&#10;      &lt;Text style={{ fontSize: 10, color: '#9C9C9C', lineHeight: 1.7, fontFamily: &quot;'PingFang SC','Microsoft YaHei',sans-serif&quot; }}&gt;备注：摄影由团队自带，不计费；车价及酒店价格随季节浮动；人均费用 = 合计 ÷ 20 人；本表为成本预估，未含税金。&lt;/Text&gt;&#10;    &lt;/Box&gt;&#10;  &lt;/Box&gt;&#10;  &lt;Box style={{ flexDirection: 'row', justifyContent: 'space-between', borderTop: '1px solid rgba(255,255,255,0.14)', paddingTop: 9, marginTop: 12 }}&gt;&#10;    &lt;Text style={{ fontSize: 10, letterSpacing: 3, color: '#9C9C9C', fontFamily: &quot;'Avenir Next','Helvetica Neue',sans-serif&quot; }}&gt;ARC'TERYX × 远拓户外&lt;/Text&gt;&#10;    &lt;Text style={{ fontSize: 10, letterSpacing: 2, color: '#9C9C9C', fontFamily: &quot;'Avenir Next','Helvetica Neue',sans-serif&quot; }}&gt;15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134" name=""/>
          <p:cNvPicPr>
            <a:picLocks noChangeAspect="1"/>
          </p:cNvPicPr>
          <p:nvPr/>
        </p:nvPicPr>
        <p:blipFill>
          <a:blip r:embed="rId1"/>
          <a:srcRect l="0" t="784" r="0" b="784"/>
          <a:stretch>
            <a:fillRect/>
          </a:stretch>
        </p:blipFill>
        <p:spPr>
          <a:xfrm rot="0" flipH="0" flipV="0">
            <a:off x="533400" y="476250"/>
            <a:ext cx="285750" cy="19050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33450" y="504825"/>
            <a:ext cx="866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14 — COST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33400" y="800100"/>
            <a:ext cx="1828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5F5F4"/>
                </a:solidFill>
                <a:latin typeface="PingFang SC"/>
                <a:ea typeface="PingFang SC"/>
              </a:rPr>
              <a:t>活动费用明细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001250" y="1019175"/>
            <a:ext cx="1657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按</a:t>
            </a:r>
            <a:r>
              <a:rPr lang="en-US" sz="975" spc="150">
                <a:solidFill>
                  <a:srgbClr val="E9A23B"/>
                </a:solidFill>
                <a:latin typeface="PingFang SC"/>
                <a:ea typeface="PingFang SC"/>
              </a:rPr>
              <a:t> 20 </a:t>
            </a: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人报价</a:t>
            </a:r>
            <a:r>
              <a:rPr lang="en-US" sz="975" spc="150">
                <a:solidFill>
                  <a:srgbClr val="E9A23B"/>
                </a:solidFill>
                <a:latin typeface="PingFang SC"/>
                <a:ea typeface="PingFang SC"/>
              </a:rPr>
              <a:t> · </a:t>
            </a:r>
            <a:r>
              <a:rPr lang="zh-CN" sz="975" spc="150">
                <a:solidFill>
                  <a:srgbClr val="E9A23B"/>
                </a:solidFill>
                <a:latin typeface="PingFang SC"/>
                <a:ea typeface="PingFang SC"/>
              </a:rPr>
              <a:t>成本预估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1323975"/>
            <a:ext cx="5905500" cy="200025"/>
          </a:xfrm>
          <a:custGeom>
            <a:pathLst>
              <a:path w="620" h="21">
                <a:moveTo>
                  <a:pt x="0" y="20"/>
                </a:moveTo>
                <a:lnTo>
                  <a:pt x="620" y="20"/>
                </a:lnTo>
                <a:lnTo>
                  <a:pt x="620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704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150">
                <a:solidFill>
                  <a:srgbClr val="9C9C9C"/>
                </a:solidFill>
                <a:latin typeface="PingFang SC"/>
                <a:ea typeface="PingFang SC"/>
              </a:rPr>
              <a:t>项目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238250" y="1323975"/>
            <a:ext cx="2819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150">
                <a:solidFill>
                  <a:srgbClr val="9C9C9C"/>
                </a:solidFill>
                <a:latin typeface="PingFang SC"/>
                <a:ea typeface="PingFang SC"/>
              </a:rPr>
              <a:t>内容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057650" y="1323975"/>
            <a:ext cx="68580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 spc="150">
                <a:solidFill>
                  <a:srgbClr val="9C9C9C"/>
                </a:solidFill>
                <a:latin typeface="PingFang SC"/>
                <a:ea typeface="PingFang SC"/>
              </a:rPr>
              <a:t>数量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743450" y="1323975"/>
            <a:ext cx="78105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 spc="150">
                <a:solidFill>
                  <a:srgbClr val="9C9C9C"/>
                </a:solidFill>
                <a:latin typeface="PingFang SC"/>
                <a:ea typeface="PingFang SC"/>
              </a:rPr>
              <a:t>单价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524500" y="1323975"/>
            <a:ext cx="91440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 spc="150">
                <a:solidFill>
                  <a:srgbClr val="9C9C9C"/>
                </a:solidFill>
                <a:latin typeface="PingFang SC"/>
                <a:ea typeface="PingFang SC"/>
              </a:rPr>
              <a:t>小计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33400" y="1628775"/>
            <a:ext cx="28575" cy="1047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38175" y="1609725"/>
            <a:ext cx="914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13">
                <a:solidFill>
                  <a:srgbClr val="E9A23B"/>
                </a:solidFill>
                <a:latin typeface="PingFang SC"/>
                <a:ea typeface="PingFang SC"/>
              </a:rPr>
              <a:t>D1 · </a:t>
            </a:r>
            <a:r>
              <a:rPr lang="zh-CN" sz="825" spc="113">
                <a:solidFill>
                  <a:srgbClr val="E9A23B"/>
                </a:solidFill>
                <a:latin typeface="PingFang SC"/>
                <a:ea typeface="PingFang SC"/>
              </a:rPr>
              <a:t>去程与住宿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105525" y="160972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9A23B"/>
                </a:solidFill>
                <a:latin typeface="Avenir Next"/>
                <a:ea typeface="Avenir Next"/>
              </a:rPr>
              <a:t>49,850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33400" y="17716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33400" y="18192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车费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238250" y="18192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保姆大巴车（</a:t>
            </a: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20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人）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057650" y="18192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1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台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743450" y="18192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2,500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524500" y="18097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2,500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533400" y="20002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33400" y="20478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午餐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238250" y="20478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康定藏式牦牛肉菌汤锅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057650" y="20478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20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743450" y="20478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80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524500" y="20383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1,600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33400" y="22288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33400" y="22764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晚餐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238250" y="22764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酒店户外直火草原烤肉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057650" y="22764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20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743450" y="22764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500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524500" y="22669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10,000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533400" y="24574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33400" y="25050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住宿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238250" y="25050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赞巴明镜酒店</a:t>
            </a: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 ·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标间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057650" y="25050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10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间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743450" y="25050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3,200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524500" y="24955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32,000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33400" y="26860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33400" y="27336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门票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238250" y="27336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鱼子西清洁费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057650" y="27336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25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743450" y="27336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50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524500" y="27241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1,250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33400" y="29146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33400" y="29622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中转车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238250" y="29622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当地越野中转车</a:t>
            </a: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 ·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往返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057650" y="29622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25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743450" y="29622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100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524500" y="29527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2,500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533400" y="3267075"/>
            <a:ext cx="28575" cy="1047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38175" y="3248025"/>
            <a:ext cx="933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13">
                <a:solidFill>
                  <a:srgbClr val="E9A23B"/>
                </a:solidFill>
                <a:latin typeface="PingFang SC"/>
                <a:ea typeface="PingFang SC"/>
              </a:rPr>
              <a:t>D2 · </a:t>
            </a:r>
            <a:r>
              <a:rPr lang="zh-CN" sz="825" spc="113">
                <a:solidFill>
                  <a:srgbClr val="E9A23B"/>
                </a:solidFill>
                <a:latin typeface="PingFang SC"/>
                <a:ea typeface="PingFang SC"/>
              </a:rPr>
              <a:t>返程与体验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105525" y="324802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9A23B"/>
                </a:solidFill>
                <a:latin typeface="Avenir Next"/>
                <a:ea typeface="Avenir Next"/>
              </a:rPr>
              <a:t>10,500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33400" y="34099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33400" y="34575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车费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238250" y="34575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保姆大巴车（</a:t>
            </a: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20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人）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057650" y="34575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1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台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743450" y="34575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2,500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524500" y="34480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2,500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33400" y="36385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33400" y="36861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午餐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238250" y="36861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酒店特色餐食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057650" y="36861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20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743450" y="36861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300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6,000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33400" y="38671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33400" y="39147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唐卡体验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238250" y="39147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非遗唐卡绘制体验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057650" y="39147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20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743450" y="39147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100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524500" y="39052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2,000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33400" y="4219575"/>
            <a:ext cx="28575" cy="1047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38175" y="4200525"/>
            <a:ext cx="1000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13">
                <a:solidFill>
                  <a:srgbClr val="E9A23B"/>
                </a:solidFill>
                <a:latin typeface="PingFang SC"/>
                <a:ea typeface="PingFang SC"/>
              </a:rPr>
              <a:t>其他</a:t>
            </a:r>
            <a:r>
              <a:rPr lang="en-US" sz="825" spc="113">
                <a:solidFill>
                  <a:srgbClr val="E9A23B"/>
                </a:solidFill>
                <a:latin typeface="PingFang SC"/>
                <a:ea typeface="PingFang SC"/>
              </a:rPr>
              <a:t> · </a:t>
            </a:r>
            <a:r>
              <a:rPr lang="zh-CN" sz="825" spc="113">
                <a:solidFill>
                  <a:srgbClr val="E9A23B"/>
                </a:solidFill>
                <a:latin typeface="PingFang SC"/>
                <a:ea typeface="PingFang SC"/>
              </a:rPr>
              <a:t>服务与保障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162675" y="4200525"/>
            <a:ext cx="276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9A23B"/>
                </a:solidFill>
                <a:latin typeface="Avenir Next"/>
                <a:ea typeface="Avenir Next"/>
              </a:rPr>
              <a:t>8,860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33400" y="43624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33400" y="44100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饮用水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238250" y="44100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活动全程两天饮用水（依云）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057650" y="44100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80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瓶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743450" y="44100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10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524500" y="44005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800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33400" y="45910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33400" y="46386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氧气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238250" y="46386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活动配备氧气罐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057650" y="46386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40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罐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743450" y="46386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20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524500" y="46291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800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33400" y="48196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33400" y="48672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摄影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238250" y="48672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全程摄影师（已含）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057650" y="48672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2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天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743450" y="48672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sz="825">
                <a:solidFill>
                  <a:srgbClr val="9C9C9C"/>
                </a:solidFill>
                <a:latin typeface="Avenir Next"/>
                <a:ea typeface="Avenir Next"/>
              </a:rPr>
              <a:t>—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524500" y="48577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0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33400" y="50482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3400" y="50958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领队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238250" y="50958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全程领队</a:t>
            </a: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 2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天服务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057650" y="50958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6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人天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743450" y="50958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800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524500" y="50863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4,800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33400" y="52768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33400" y="53244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保险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238250" y="53244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100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万户外旅游保险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057650" y="53244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40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人天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743450" y="53244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15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524500" y="53149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600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533400" y="55054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33400" y="55530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工作餐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238250" y="55530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领队</a:t>
            </a: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 /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摄影</a:t>
            </a:r>
            <a:r>
              <a:rPr lang="en-US" sz="863">
                <a:solidFill>
                  <a:srgbClr val="C9C9C9"/>
                </a:solidFill>
                <a:latin typeface="PingFang SC"/>
                <a:ea typeface="PingFang SC"/>
              </a:rPr>
              <a:t> / </a:t>
            </a: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司机餐食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057650" y="55530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12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人天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743450" y="55530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80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524500" y="55435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960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533400" y="57340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33400" y="57816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工作住宿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238250" y="57816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领队及司机摄影住宿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057650" y="57816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3 </a:t>
            </a:r>
            <a:r>
              <a:rPr lang="zh-CN" sz="825">
                <a:solidFill>
                  <a:srgbClr val="9C9C9C"/>
                </a:solidFill>
                <a:latin typeface="PingFang SC"/>
                <a:ea typeface="PingFang SC"/>
              </a:rPr>
              <a:t>间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743450" y="57816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Avenir Next"/>
                <a:ea typeface="Avenir Next"/>
              </a:rPr>
              <a:t>300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524500" y="57721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900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533400" y="6086475"/>
            <a:ext cx="28575" cy="1047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38175" y="6067425"/>
            <a:ext cx="1304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13">
                <a:solidFill>
                  <a:srgbClr val="E9A23B"/>
                </a:solidFill>
                <a:latin typeface="PingFang SC"/>
                <a:ea typeface="PingFang SC"/>
              </a:rPr>
              <a:t>策划执行</a:t>
            </a:r>
            <a:r>
              <a:rPr lang="en-US" sz="825" spc="113">
                <a:solidFill>
                  <a:srgbClr val="E9A23B"/>
                </a:solidFill>
                <a:latin typeface="PingFang SC"/>
                <a:ea typeface="PingFang SC"/>
              </a:rPr>
              <a:t> · </a:t>
            </a:r>
            <a:r>
              <a:rPr lang="zh-CN" sz="825" spc="113">
                <a:solidFill>
                  <a:srgbClr val="E9A23B"/>
                </a:solidFill>
                <a:latin typeface="PingFang SC"/>
                <a:ea typeface="PingFang SC"/>
              </a:rPr>
              <a:t>总费用</a:t>
            </a:r>
            <a:r>
              <a:rPr lang="en-US" sz="825" spc="113">
                <a:solidFill>
                  <a:srgbClr val="E9A23B"/>
                </a:solidFill>
                <a:latin typeface="PingFang SC"/>
                <a:ea typeface="PingFang SC"/>
              </a:rPr>
              <a:t> 10%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162675" y="6067425"/>
            <a:ext cx="276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9A23B"/>
                </a:solidFill>
                <a:latin typeface="Avenir Next"/>
                <a:ea typeface="Avenir Next"/>
              </a:rPr>
              <a:t>6,921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33400" y="6229350"/>
            <a:ext cx="5905500" cy="238125"/>
          </a:xfrm>
          <a:custGeom>
            <a:pathLst>
              <a:path w="620" h="25">
                <a:moveTo>
                  <a:pt x="0" y="24"/>
                </a:moveTo>
                <a:lnTo>
                  <a:pt x="620" y="24"/>
                </a:lnTo>
                <a:lnTo>
                  <a:pt x="62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33400" y="627697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5F5F4"/>
                </a:solidFill>
                <a:latin typeface="PingFang SC"/>
                <a:ea typeface="PingFang SC"/>
              </a:rPr>
              <a:t>前期计调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238250" y="62769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C9C9C9"/>
                </a:solidFill>
                <a:latin typeface="PingFang SC"/>
                <a:ea typeface="PingFang SC"/>
              </a:rPr>
              <a:t>策划执行及前期计调安排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057650" y="6276975"/>
            <a:ext cx="6858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9C9C9C"/>
                </a:solidFill>
                <a:latin typeface="PingFang SC"/>
                <a:ea typeface="PingFang SC"/>
              </a:rPr>
              <a:t>10%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743450" y="6276975"/>
            <a:ext cx="7810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sz="825">
                <a:solidFill>
                  <a:srgbClr val="9C9C9C"/>
                </a:solidFill>
                <a:latin typeface="Avenir Next"/>
                <a:ea typeface="Avenir Next"/>
              </a:rPr>
              <a:t>—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524500" y="6267450"/>
            <a:ext cx="9144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F5F5F4"/>
                </a:solidFill>
                <a:latin typeface="Avenir Next"/>
                <a:ea typeface="Avenir Next"/>
              </a:rPr>
              <a:t>6,921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648450" y="1323975"/>
            <a:ext cx="5010150" cy="1438275"/>
          </a:xfrm>
          <a:prstGeom prst="roundRect">
            <a:avLst>
              <a:gd name="adj" fmla="val 2649"/>
            </a:avLst>
          </a:prstGeom>
          <a:solidFill>
            <a:srgbClr val="E9A23B">
              <a:alpha val="10000"/>
            </a:srgbClr>
          </a:solidFill>
          <a:ln w="12700">
            <a:solidFill>
              <a:srgbClr val="E9A23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38950" y="1514475"/>
            <a:ext cx="4629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225">
                <a:solidFill>
                  <a:srgbClr val="E9A23B"/>
                </a:solidFill>
                <a:latin typeface="PingFang SC"/>
                <a:ea typeface="PingFang SC"/>
              </a:rPr>
              <a:t>合计</a:t>
            </a:r>
            <a:r>
              <a:rPr lang="en-US" sz="788" spc="225">
                <a:solidFill>
                  <a:srgbClr val="E9A23B"/>
                </a:solidFill>
                <a:latin typeface="PingFang SC"/>
                <a:ea typeface="PingFang SC"/>
              </a:rPr>
              <a:t> · 20 </a:t>
            </a:r>
            <a:r>
              <a:rPr lang="zh-CN" sz="788" spc="225">
                <a:solidFill>
                  <a:srgbClr val="E9A23B"/>
                </a:solidFill>
                <a:latin typeface="PingFang SC"/>
                <a:ea typeface="PingFang SC"/>
              </a:rPr>
              <a:t>人</a:t>
            </a:r>
            <a:r>
              <a:rPr lang="en-US" sz="788" spc="225">
                <a:solidFill>
                  <a:srgbClr val="E9A23B"/>
                </a:solidFill>
                <a:latin typeface="PingFang SC"/>
                <a:ea typeface="PingFang SC"/>
              </a:rPr>
              <a:t> · </a:t>
            </a:r>
            <a:r>
              <a:rPr lang="zh-CN" sz="788" spc="225">
                <a:solidFill>
                  <a:srgbClr val="E9A23B"/>
                </a:solidFill>
                <a:latin typeface="PingFang SC"/>
                <a:ea typeface="PingFang SC"/>
              </a:rPr>
              <a:t>未含税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38950" y="1714500"/>
            <a:ext cx="46291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F5F4"/>
                </a:solidFill>
                <a:latin typeface="Avenir Next"/>
                <a:ea typeface="Avenir Next"/>
              </a:rPr>
              <a:t>¥ 76,131.00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38950" y="2266950"/>
            <a:ext cx="723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9C9C9C"/>
                </a:solidFill>
                <a:latin typeface="PingFang SC"/>
                <a:ea typeface="PingFang SC"/>
              </a:rPr>
              <a:t>前期合计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38950" y="24098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5F4"/>
                </a:solidFill>
                <a:latin typeface="Avenir Next"/>
                <a:ea typeface="Avenir Next"/>
              </a:rPr>
              <a:t>¥ 69,210.00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620375" y="2266950"/>
            <a:ext cx="847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9C9C9C"/>
                </a:solidFill>
                <a:latin typeface="PingFang SC"/>
                <a:ea typeface="PingFang SC"/>
              </a:rPr>
              <a:t>策划执行（</a:t>
            </a:r>
            <a:r>
              <a:rPr lang="en-US" sz="750" spc="75">
                <a:solidFill>
                  <a:srgbClr val="9C9C9C"/>
                </a:solidFill>
                <a:latin typeface="PingFang SC"/>
                <a:ea typeface="PingFang SC"/>
              </a:rPr>
              <a:t>10%</a:t>
            </a:r>
            <a:r>
              <a:rPr lang="zh-CN" sz="750" spc="75">
                <a:solidFill>
                  <a:srgbClr val="9C9C9C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0620375" y="240982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5F4"/>
                </a:solidFill>
                <a:latin typeface="Avenir Next"/>
                <a:ea typeface="Avenir Next"/>
              </a:rPr>
              <a:t>¥ 6,921.00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648450" y="2895600"/>
            <a:ext cx="2447925" cy="714375"/>
          </a:xfrm>
          <a:prstGeom prst="roundRect">
            <a:avLst>
              <a:gd name="adj" fmla="val 533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800850" y="3048000"/>
            <a:ext cx="2143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9C9C9C"/>
                </a:solidFill>
                <a:latin typeface="PingFang SC"/>
                <a:ea typeface="PingFang SC"/>
              </a:rPr>
              <a:t>人均费用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800850" y="3209925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9A23B"/>
                </a:solidFill>
                <a:latin typeface="Avenir Next"/>
                <a:ea typeface="Avenir Next"/>
              </a:rPr>
              <a:t>¥ 3,806.55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9210675" y="2895600"/>
            <a:ext cx="2447925" cy="714375"/>
          </a:xfrm>
          <a:prstGeom prst="roundRect">
            <a:avLst>
              <a:gd name="adj" fmla="val 533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363075" y="3048000"/>
            <a:ext cx="2143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9C9C9C"/>
                </a:solidFill>
                <a:latin typeface="PingFang SC"/>
                <a:ea typeface="PingFang SC"/>
              </a:rPr>
              <a:t>费用条目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363075" y="3209925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5F5F4"/>
                </a:solidFill>
                <a:latin typeface="Avenir Next"/>
                <a:ea typeface="Avenir Next"/>
              </a:rPr>
              <a:t>16 </a:t>
            </a:r>
            <a:r>
              <a:rPr lang="zh-CN" sz="1575" b="1">
                <a:solidFill>
                  <a:srgbClr val="F5F5F4"/>
                </a:solidFill>
                <a:latin typeface="Avenir Next"/>
                <a:ea typeface="Avenir Next"/>
              </a:rPr>
              <a:t>项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648450" y="3743325"/>
            <a:ext cx="5010150" cy="1800225"/>
          </a:xfrm>
          <a:prstGeom prst="roundRect">
            <a:avLst>
              <a:gd name="adj" fmla="val 211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838950" y="3933825"/>
            <a:ext cx="4629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225">
                <a:solidFill>
                  <a:srgbClr val="E9A23B"/>
                </a:solidFill>
                <a:latin typeface="PingFang SC"/>
                <a:ea typeface="PingFang SC"/>
              </a:rPr>
              <a:t>费用结构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38950" y="4257675"/>
            <a:ext cx="781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C9C9C9"/>
                </a:solidFill>
                <a:latin typeface="PingFang SC"/>
                <a:ea typeface="PingFang SC"/>
              </a:rPr>
              <a:t>D1 </a:t>
            </a:r>
            <a:r>
              <a:rPr lang="zh-CN" sz="788">
                <a:solidFill>
                  <a:srgbClr val="C9C9C9"/>
                </a:solidFill>
                <a:latin typeface="PingFang SC"/>
                <a:ea typeface="PingFang SC"/>
              </a:rPr>
              <a:t>去程与住宿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620000" y="4286250"/>
            <a:ext cx="30670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7620000" y="4286250"/>
            <a:ext cx="205740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563225" y="4248150"/>
            <a:ext cx="5715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5F5F4"/>
                </a:solidFill>
                <a:latin typeface="Avenir Next"/>
                <a:ea typeface="Avenir Next"/>
              </a:rPr>
              <a:t>49,850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34725" y="4257675"/>
            <a:ext cx="333375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50">
                <a:solidFill>
                  <a:srgbClr val="9C9C9C"/>
                </a:solidFill>
                <a:latin typeface="Avenir Next"/>
                <a:ea typeface="Avenir Next"/>
              </a:rPr>
              <a:t>65%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38950" y="4581525"/>
            <a:ext cx="781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C9C9C9"/>
                </a:solidFill>
                <a:latin typeface="PingFang SC"/>
                <a:ea typeface="PingFang SC"/>
              </a:rPr>
              <a:t>D2 </a:t>
            </a:r>
            <a:r>
              <a:rPr lang="zh-CN" sz="788">
                <a:solidFill>
                  <a:srgbClr val="C9C9C9"/>
                </a:solidFill>
                <a:latin typeface="PingFang SC"/>
                <a:ea typeface="PingFang SC"/>
              </a:rPr>
              <a:t>返程与体验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620000" y="4610100"/>
            <a:ext cx="30670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7620000" y="46101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0563225" y="4572000"/>
            <a:ext cx="5715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5F5F4"/>
                </a:solidFill>
                <a:latin typeface="Avenir Next"/>
                <a:ea typeface="Avenir Next"/>
              </a:rPr>
              <a:t>10,500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134725" y="4581525"/>
            <a:ext cx="333375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50">
                <a:solidFill>
                  <a:srgbClr val="9C9C9C"/>
                </a:solidFill>
                <a:latin typeface="Avenir Next"/>
                <a:ea typeface="Avenir Next"/>
              </a:rPr>
              <a:t>14%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38950" y="4905375"/>
            <a:ext cx="781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9C9C9"/>
                </a:solidFill>
                <a:latin typeface="PingFang SC"/>
                <a:ea typeface="PingFang SC"/>
              </a:rPr>
              <a:t>其他服务保障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620000" y="4933950"/>
            <a:ext cx="30670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7620000" y="4933950"/>
            <a:ext cx="3619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563225" y="4895850"/>
            <a:ext cx="5715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5F5F4"/>
                </a:solidFill>
                <a:latin typeface="Avenir Next"/>
                <a:ea typeface="Avenir Next"/>
              </a:rPr>
              <a:t>8,860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134725" y="4905375"/>
            <a:ext cx="333375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50">
                <a:solidFill>
                  <a:srgbClr val="9C9C9C"/>
                </a:solidFill>
                <a:latin typeface="Avenir Next"/>
                <a:ea typeface="Avenir Next"/>
              </a:rPr>
              <a:t>12%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838950" y="5229225"/>
            <a:ext cx="781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9C9C9"/>
                </a:solidFill>
                <a:latin typeface="PingFang SC"/>
                <a:ea typeface="PingFang SC"/>
              </a:rPr>
              <a:t>策划执行</a:t>
            </a:r>
            <a:r>
              <a:rPr lang="en-US" sz="788">
                <a:solidFill>
                  <a:srgbClr val="C9C9C9"/>
                </a:solidFill>
                <a:latin typeface="PingFang SC"/>
                <a:ea typeface="PingFang SC"/>
              </a:rPr>
              <a:t> 10%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7620000" y="5257800"/>
            <a:ext cx="30670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7620000" y="5257800"/>
            <a:ext cx="285750" cy="5715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0563225" y="5219700"/>
            <a:ext cx="5715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5F5F4"/>
                </a:solidFill>
                <a:latin typeface="Avenir Next"/>
                <a:ea typeface="Avenir Next"/>
              </a:rPr>
              <a:t>6,921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1134725" y="5229225"/>
            <a:ext cx="333375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50">
                <a:solidFill>
                  <a:srgbClr val="9C9C9C"/>
                </a:solidFill>
                <a:latin typeface="Avenir Next"/>
                <a:ea typeface="Avenir Next"/>
              </a:rPr>
              <a:t>9%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648450" y="6067425"/>
            <a:ext cx="50101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50">
                <a:solidFill>
                  <a:srgbClr val="9C9C9C"/>
                </a:solidFill>
                <a:latin typeface="PingFang SC"/>
                <a:ea typeface="PingFang SC"/>
              </a:rPr>
              <a:t>备注：摄影由团队自带，不计费；车价及酒店价格随季节浮动；人均费用</a:t>
            </a:r>
            <a:r>
              <a:rPr lang="en-US" sz="750">
                <a:solidFill>
                  <a:srgbClr val="9C9C9C"/>
                </a:solidFill>
                <a:latin typeface="PingFang SC"/>
                <a:ea typeface="PingFang SC"/>
              </a:rPr>
              <a:t> = </a:t>
            </a:r>
            <a:r>
              <a:rPr lang="zh-CN" sz="750">
                <a:solidFill>
                  <a:srgbClr val="9C9C9C"/>
                </a:solidFill>
                <a:latin typeface="PingFang SC"/>
                <a:ea typeface="PingFang SC"/>
              </a:rPr>
              <a:t>合计</a:t>
            </a:r>
            <a:r>
              <a:rPr lang="en-US" sz="750">
                <a:solidFill>
                  <a:srgbClr val="9C9C9C"/>
                </a:solidFill>
                <a:latin typeface="PingFang SC"/>
                <a:ea typeface="PingFang SC"/>
              </a:rPr>
              <a:t> ÷ 20 </a:t>
            </a:r>
            <a:r>
              <a:rPr lang="zh-CN" sz="750">
                <a:solidFill>
                  <a:srgbClr val="9C9C9C"/>
                </a:solidFill>
                <a:latin typeface="PingFang SC"/>
                <a:ea typeface="PingFang SC"/>
              </a:rPr>
              <a:t>人；本表为成本预估，未含税金。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533400" y="6572250"/>
            <a:ext cx="11125200" cy="219075"/>
          </a:xfrm>
          <a:custGeom>
            <a:pathLst>
              <a:path w="1168" h="23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33400" y="6667500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225">
                <a:solidFill>
                  <a:srgbClr val="9C9C9C"/>
                </a:solidFill>
                <a:latin typeface="Avenir Next"/>
                <a:ea typeface="Avenir Next"/>
              </a:rPr>
              <a:t>ARC'TERYX × </a:t>
            </a:r>
            <a:r>
              <a:rPr lang="zh-CN" sz="750" spc="225">
                <a:solidFill>
                  <a:srgbClr val="9C9C9C"/>
                </a:solidFill>
                <a:latin typeface="Avenir Next"/>
                <a:ea typeface="Avenir Next"/>
              </a:rPr>
              <a:t>远拓户外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1220450" y="66675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50">
                <a:solidFill>
                  <a:srgbClr val="9C9C9C"/>
                </a:solidFill>
                <a:latin typeface="Avenir Next"/>
                <a:ea typeface="Avenir Next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" descr="&lt;Slide style={{ width: 1280, height: 720, background: '#0A0A0B', position: 'relative', padding: 0 }}&gt;&#10;  &lt;Image src=&quot;assets/cover_dark.jpg&quot; style={{ position: 'absolute', top: 0, left: 0, width: 1280, height: 720, objectFit: 'cover' }} /&gt;&#10;  &lt;Box style={{ position: 'relative', width: '100%', height: 720, flexDirection: 'column', alignItems: 'center', justifyContent: 'center', gap: 26 }}&gt;&#10;    &lt;Image src=&quot;assets/logo_yuantuo.png&quot; style={{ width: 168, height: 96 }} /&gt;&#10;    &lt;Text style={{ fontSize: 70, fontWeight: 'bold', color: '#F5F5F4', letterSpacing: 14, fontFamily: &quot;'Avenir Next','Helvetica Neue',sans-serif&quot; }}&gt;THANKS&lt;/Text&gt;&#10;    &lt;Box style={{ width: 56, height: 3, background: '#E9A23B' }} /&gt;&#10;    &lt;Text style={{ fontSize: 16, color: '#C9C9C9', letterSpacing: 6, fontFamily: &quot;'PingFang SC','Microsoft YaHei',sans-serif&quot; }}&gt;成都远拓户外&lt;/Text&gt;&#10;    &lt;Text style={{ fontSize: 11, letterSpacing: 4, color: '#9C9C9C', fontFamily: &quot;'Avenir Next','Helvetica Neue',sans-serif&quot; }}&gt;SICHUAN · 2026 / 10.xx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/>
        </p:spPr>
        <p:txBody>
          <a:bodyPr/>
          <a:p/>
        </p:txBody>
      </p:sp>
      <p:pic>
        <p:nvPicPr>
          <p:cNvPr id="29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300" name=""/>
          <p:cNvPicPr>
            <a:picLocks noChangeAspect="1"/>
          </p:cNvPicPr>
          <p:nvPr/>
        </p:nvPicPr>
        <p:blipFill>
          <a:blip r:embed="rId2"/>
          <a:srcRect l="0" t="113" r="0" b="113"/>
          <a:stretch>
            <a:fillRect/>
          </a:stretch>
        </p:blipFill>
        <p:spPr>
          <a:xfrm rot="0" flipH="0" flipV="0">
            <a:off x="5295900" y="1905000"/>
            <a:ext cx="1600200" cy="914400"/>
          </a:xfrm>
          <a:prstGeom prst="rect">
            <a:avLst/>
          </a:prstGeom>
          <a:ln/>
        </p:spPr>
      </p:pic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305300" y="3067050"/>
            <a:ext cx="3581400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250" b="1" spc="1050">
                <a:solidFill>
                  <a:srgbClr val="F5F5F4"/>
                </a:solidFill>
                <a:latin typeface="Avenir Next"/>
                <a:ea typeface="Avenir Next"/>
              </a:rPr>
              <a:t>THANKS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829300" y="4114800"/>
            <a:ext cx="533400" cy="28575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467350" y="439102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450">
                <a:solidFill>
                  <a:srgbClr val="C9C9C9"/>
                </a:solidFill>
                <a:latin typeface="PingFang SC"/>
                <a:ea typeface="PingFang SC"/>
              </a:rPr>
              <a:t>成都远拓户外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114925" y="4829175"/>
            <a:ext cx="1971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9C9C9C"/>
                </a:solidFill>
                <a:latin typeface="Avenir Next"/>
                <a:ea typeface="Avenir Next"/>
              </a:rPr>
              <a:t>SICHUAN · 2026 / 10.xx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2026-09-21T14:47:51Z</dcterms:created>
  <dcterms:modified xsi:type="dcterms:W3CDTF">2026-09-21T14:47:51Z</dcterms:modified>
</cp:coreProperties>
</file>